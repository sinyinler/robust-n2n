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4" r:id="rId15"/>
    <p:sldId id="258" r:id="rId4"/>
    <p:sldId id="259" r:id="rId5"/>
    <p:sldId id="260" r:id="rId6"/>
    <p:sldId id="263" r:id="rId7"/>
    <p:sldId id="261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48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3.xml"/><Relationship Id="rId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Microsoft YaHei"/>
              </a:defRPr>
            </a:pPr>
            <a:r>
              <a:rPr lang="zh-CN" altLang="en-US" sz="1300" b="0" i="0" u="none" strike="noStrike">
                <a:solidFill>
                  <a:srgbClr val="1E2761"/>
                </a:solidFill>
                <a:latin typeface="Microsoft YaHei"/>
              </a:rPr>
              <a:t>跨 </a:t>
            </a:r>
            <a:r>
              <a:rPr lang="en-US" sz="1300" b="0" i="0" u="none" strike="noStrike">
                <a:solidFill>
                  <a:srgbClr val="1E2761"/>
                </a:solidFill>
                <a:latin typeface="Microsoft YaHei"/>
              </a:rPr>
              <a:t>seed </a:t>
            </a:r>
            <a:r>
              <a:rPr lang="el-GR" sz="1300" b="0" i="0" u="none" strike="noStrike">
                <a:solidFill>
                  <a:srgbClr val="1E2761"/>
                </a:solidFill>
                <a:latin typeface="Microsoft YaHei"/>
              </a:rPr>
              <a:t>Δ</a:t>
            </a:r>
            <a:r>
              <a:rPr lang="en-US" sz="1300" b="0" i="0" u="none" strike="noStrike">
                <a:solidFill>
                  <a:srgbClr val="1E2761"/>
                </a:solidFill>
                <a:latin typeface="Microsoft YaHei"/>
              </a:rPr>
              <a:t>PSNR（dB）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seed42</c:v>
                </c:pt>
              </c:strCache>
            </c:strRef>
          </c:tx>
          <c:spPr>
            <a:solidFill>
              <a:srgbClr val="85B7EB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w_feat=0.3</c:v>
                </c:pt>
                <c:pt idx="1">
                  <c:v>w_feat=0.15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0.76200000000000001</c:v>
                </c:pt>
                <c:pt idx="1">
                  <c:v>0.71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81A-4EEE-AA86-06E2899E336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seed43</c:v>
                </c:pt>
              </c:strCache>
            </c:strRef>
          </c:tx>
          <c:spPr>
            <a:solidFill>
              <a:srgbClr val="F0997B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w_feat=0.3</c:v>
                </c:pt>
                <c:pt idx="1">
                  <c:v>w_feat=0.15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-0.06</c:v>
                </c:pt>
                <c:pt idx="1">
                  <c:v>-2.3740000000000001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81A-4EEE-AA86-06E2899E336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seed44</c:v>
                </c:pt>
              </c:strCache>
            </c:strRef>
          </c:tx>
          <c:spPr>
            <a:solidFill>
              <a:srgbClr val="D4537E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w_feat=0.3</c:v>
                </c:pt>
                <c:pt idx="1">
                  <c:v>w_feat=0.15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-0.59799999999999998</c:v>
                </c:pt>
                <c:pt idx="1">
                  <c:v>-0.36899999999999999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81A-4EEE-AA86-06E2899E33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22222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-3"/>
        </c:scaling>
        <c:delete val="0"/>
        <c:axPos val="l"/>
        <c:majorGridlines>
          <c:spPr>
            <a:ln w="6350" cap="flat">
              <a:solidFill>
                <a:srgbClr val="E8EB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22222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Microsoft YaHei"/>
              </a:defRPr>
            </a:pPr>
            <a:r>
              <a:rPr lang="en-US" altLang="zh-CN" sz="1300" b="0" i="0" u="none" strike="noStrike">
                <a:solidFill>
                  <a:srgbClr val="1E2761"/>
                </a:solidFill>
                <a:latin typeface="Microsoft YaHei"/>
              </a:rPr>
              <a:t>ΔPSNR </a:t>
            </a:r>
            <a:r>
              <a:rPr lang="zh-CN" altLang="en-US" sz="1300" b="0" i="0" u="none" strike="noStrike">
                <a:solidFill>
                  <a:srgbClr val="1E2761"/>
                </a:solidFill>
                <a:latin typeface="Microsoft YaHei"/>
              </a:rPr>
              <a:t>随 </a:t>
            </a:r>
            <a:r>
              <a:rPr lang="en-US" altLang="zh-CN" sz="1300" b="0" i="0" u="none" strike="noStrike">
                <a:solidFill>
                  <a:srgbClr val="1E2761"/>
                </a:solidFill>
                <a:latin typeface="Microsoft YaHei"/>
              </a:rPr>
              <a:t>OOD </a:t>
            </a:r>
            <a:r>
              <a:rPr lang="zh-CN" altLang="en-US" sz="1300" b="0" i="0" u="none" strike="noStrike">
                <a:solidFill>
                  <a:srgbClr val="1E2761"/>
                </a:solidFill>
                <a:latin typeface="Microsoft YaHei"/>
              </a:rPr>
              <a:t>加深单调下降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seed42</c:v>
                </c:pt>
              </c:strCache>
            </c:strRef>
          </c:tx>
          <c:spPr>
            <a:ln w="25400" cap="flat">
              <a:solidFill>
                <a:srgbClr val="85B7E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85B7EB"/>
              </a:solidFill>
              <a:ln w="9525" cap="flat">
                <a:solidFill>
                  <a:srgbClr val="85B7EB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level4</c:v>
                </c:pt>
                <c:pt idx="1">
                  <c:v>level3</c:v>
                </c:pt>
                <c:pt idx="2">
                  <c:v>level2</c:v>
                </c:pt>
                <c:pt idx="3">
                  <c:v>level1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0.76200000000000001</c:v>
                </c:pt>
                <c:pt idx="1">
                  <c:v>0.92800000000000005</c:v>
                </c:pt>
                <c:pt idx="2">
                  <c:v>0.53400000000000003</c:v>
                </c:pt>
                <c:pt idx="3">
                  <c:v>-0.79400000000000004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D6C-4D20-B582-FD86E9948A2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seed43</c:v>
                </c:pt>
              </c:strCache>
            </c:strRef>
          </c:tx>
          <c:spPr>
            <a:ln w="25400" cap="flat">
              <a:solidFill>
                <a:srgbClr val="F0997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F0997B"/>
              </a:solidFill>
              <a:ln w="9525" cap="flat">
                <a:solidFill>
                  <a:srgbClr val="F0997B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level4</c:v>
                </c:pt>
                <c:pt idx="1">
                  <c:v>level3</c:v>
                </c:pt>
                <c:pt idx="2">
                  <c:v>level2</c:v>
                </c:pt>
                <c:pt idx="3">
                  <c:v>level1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-0.06</c:v>
                </c:pt>
                <c:pt idx="1">
                  <c:v>-0.40799999999999997</c:v>
                </c:pt>
                <c:pt idx="2">
                  <c:v>-1.03</c:v>
                </c:pt>
                <c:pt idx="3">
                  <c:v>-1.37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D6C-4D20-B582-FD86E9948A2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seed44</c:v>
                </c:pt>
              </c:strCache>
            </c:strRef>
          </c:tx>
          <c:spPr>
            <a:ln w="25400" cap="flat">
              <a:solidFill>
                <a:srgbClr val="D4537E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D4537E"/>
              </a:solidFill>
              <a:ln w="9525" cap="flat">
                <a:solidFill>
                  <a:srgbClr val="D4537E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level4</c:v>
                </c:pt>
                <c:pt idx="1">
                  <c:v>level3</c:v>
                </c:pt>
                <c:pt idx="2">
                  <c:v>level2</c:v>
                </c:pt>
                <c:pt idx="3">
                  <c:v>level1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-0.59799999999999998</c:v>
                </c:pt>
                <c:pt idx="1">
                  <c:v>-1.6739999999999999</c:v>
                </c:pt>
                <c:pt idx="2">
                  <c:v>-2.9809999999999999</c:v>
                </c:pt>
                <c:pt idx="3">
                  <c:v>-2.7250000000000001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D6C-4D20-B582-FD86E9948A2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均值</c:v>
                </c:pt>
              </c:strCache>
            </c:strRef>
          </c:tx>
          <c:spPr>
            <a:ln w="25400" cap="flat">
              <a:solidFill>
                <a:srgbClr val="1E2761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level4</c:v>
                </c:pt>
                <c:pt idx="1">
                  <c:v>level3</c:v>
                </c:pt>
                <c:pt idx="2">
                  <c:v>level2</c:v>
                </c:pt>
                <c:pt idx="3">
                  <c:v>level1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0.03</c:v>
                </c:pt>
                <c:pt idx="1">
                  <c:v>-0.38</c:v>
                </c:pt>
                <c:pt idx="2">
                  <c:v>-1.1599999999999999</c:v>
                </c:pt>
                <c:pt idx="3">
                  <c:v>-1.63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0D6C-4D20-B582-FD86E9948A22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打平线(0)</c:v>
                </c:pt>
              </c:strCache>
            </c:strRef>
          </c:tx>
          <c:spPr>
            <a:ln w="25400" cap="flat">
              <a:solidFill>
                <a:srgbClr val="AAB0B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AAB0BB"/>
              </a:solidFill>
              <a:ln w="9525" cap="flat">
                <a:solidFill>
                  <a:srgbClr val="AAB0BB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level4</c:v>
                </c:pt>
                <c:pt idx="1">
                  <c:v>level3</c:v>
                </c:pt>
                <c:pt idx="2">
                  <c:v>level2</c:v>
                </c:pt>
                <c:pt idx="3">
                  <c:v>level1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0D6C-4D20-B582-FD86E9948A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22222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B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222222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Microsoft YaHei"/>
              </a:defRPr>
            </a:pPr>
            <a:r>
              <a:rPr lang="en-US" sz="1300" b="0" i="0" u="none" strike="noStrike">
                <a:solidFill>
                  <a:srgbClr val="1E2761"/>
                </a:solidFill>
                <a:latin typeface="Microsoft YaHei"/>
              </a:rPr>
              <a:t>projector </a:t>
            </a:r>
            <a:r>
              <a:rPr lang="zh-CN" altLang="en-US" sz="1300" b="0" i="0" u="none" strike="noStrike">
                <a:solidFill>
                  <a:srgbClr val="1E2761"/>
                </a:solidFill>
                <a:latin typeface="Microsoft YaHei"/>
              </a:rPr>
              <a:t>大幅压平 </a:t>
            </a:r>
            <a:r>
              <a:rPr lang="en-US" sz="1300" b="0" i="0" u="none" strike="noStrike">
                <a:solidFill>
                  <a:srgbClr val="1E2761"/>
                </a:solidFill>
                <a:latin typeface="Microsoft YaHei"/>
              </a:rPr>
              <a:t>OOD </a:t>
            </a:r>
            <a:r>
              <a:rPr lang="zh-CN" altLang="en-US" sz="1300" b="0" i="0" u="none" strike="noStrike">
                <a:solidFill>
                  <a:srgbClr val="1E2761"/>
                </a:solidFill>
                <a:latin typeface="Microsoft YaHei"/>
              </a:rPr>
              <a:t>衰退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无 projector</c:v>
                </c:pt>
              </c:strCache>
            </c:strRef>
          </c:tx>
          <c:spPr>
            <a:ln w="31750" cap="flat">
              <a:solidFill>
                <a:srgbClr val="D4537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4537E"/>
              </a:solidFill>
              <a:ln w="9525" cap="flat">
                <a:solidFill>
                  <a:srgbClr val="D4537E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level4</c:v>
                </c:pt>
                <c:pt idx="1">
                  <c:v>level3</c:v>
                </c:pt>
                <c:pt idx="2">
                  <c:v>level2</c:v>
                </c:pt>
                <c:pt idx="3">
                  <c:v>level1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0.03</c:v>
                </c:pt>
                <c:pt idx="1">
                  <c:v>-0.38</c:v>
                </c:pt>
                <c:pt idx="2">
                  <c:v>-1.1599999999999999</c:v>
                </c:pt>
                <c:pt idx="3">
                  <c:v>-1.63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A17-4C3A-BB74-8096BA82A3A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带 projector</c:v>
                </c:pt>
              </c:strCache>
            </c:strRef>
          </c:tx>
          <c:spPr>
            <a:ln w="31750" cap="flat">
              <a:solidFill>
                <a:srgbClr val="1D9E7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D9E75"/>
              </a:solidFill>
              <a:ln w="9525" cap="flat">
                <a:solidFill>
                  <a:srgbClr val="1D9E75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level4</c:v>
                </c:pt>
                <c:pt idx="1">
                  <c:v>level3</c:v>
                </c:pt>
                <c:pt idx="2">
                  <c:v>level2</c:v>
                </c:pt>
                <c:pt idx="3">
                  <c:v>level1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0.14000000000000001</c:v>
                </c:pt>
                <c:pt idx="1">
                  <c:v>0.05</c:v>
                </c:pt>
                <c:pt idx="2">
                  <c:v>-0.09</c:v>
                </c:pt>
                <c:pt idx="3">
                  <c:v>-0.67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A17-4C3A-BB74-8096BA82A3A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打平线(0)</c:v>
                </c:pt>
              </c:strCache>
            </c:strRef>
          </c:tx>
          <c:spPr>
            <a:ln w="31750" cap="flat">
              <a:solidFill>
                <a:srgbClr val="AAB0B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AAB0BB"/>
              </a:solidFill>
              <a:ln w="9525" cap="flat">
                <a:solidFill>
                  <a:srgbClr val="AAB0BB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level4</c:v>
                </c:pt>
                <c:pt idx="1">
                  <c:v>level3</c:v>
                </c:pt>
                <c:pt idx="2">
                  <c:v>level2</c:v>
                </c:pt>
                <c:pt idx="3">
                  <c:v>level1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A17-4C3A-BB74-8096BA82A3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22222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B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22222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4616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Robust-N2N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822960" y="28803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跨视图特征一致性 · 实验结果汇总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" y="37947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AB6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N2N 去噪 + 跨视图特征一致性损失　|　5x5 数据 level4 训练　|　50 帧配对评测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AB6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内容：权重扫描 → 多 seed 确认 → OOD 泛化测试 → projector 消融 → 诊断与下一步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6035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2026-07-10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5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实验设置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方法与评测协议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8521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 / 损失</a:t>
            </a:r>
            <a:endParaRPr lang="en-US" sz="16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 U-Net 去噪器 + 对称 N2N（Charbonnier）</a:t>
            </a:r>
            <a:endParaRPr lang="en-US" sz="16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跨视图特征一致性（SimSiam 式：projector + predictor + stop-grad）</a:t>
            </a:r>
            <a:endParaRPr lang="en-US" sz="1600" dirty="0"/>
          </a:p>
          <a:p>
            <a:pPr marL="0" indent="0">
              <a:lnSpc>
                <a:spcPct val="112000"/>
              </a:lnSpc>
              <a:spcBef>
                <a:spcPts val="400"/>
              </a:spcBef>
              <a:spcAft>
                <a:spcPts val="1000"/>
              </a:spcAft>
              <a:buNone/>
            </a:pPr>
            <a:r>
              <a:rPr lang="en-US" sz="1250" i="1" dirty="0">
                <a:solidFill>
                  <a:srgbClr val="6B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 = Charb(f(n1),n2) + Charb(f(n2),n1) + 0.1·Charb(f(n1),f(n2)) + w_feat·L_feat</a:t>
            </a:r>
            <a:endParaRPr lang="en-US" sz="1600" dirty="0"/>
          </a:p>
          <a:p>
            <a:pPr marL="0" indent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projector / predictor（训练专用）</a:t>
            </a:r>
            <a:endParaRPr lang="en-US" sz="16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g：3 层 1×1 MLP，编码器通道 → 128 维（e3: 64→128，bn: 80→128）</a:t>
            </a:r>
            <a:endParaRPr lang="en-US" sz="16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h：128 → 32 → 128（瓶颈 = dim/4，SimSiam 推荐）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45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二者只属于损失模块，不进 checkpoint；推理只跑 encoder→decoder</a:t>
            </a:r>
            <a:endParaRPr lang="en-US" sz="1600" dirty="0"/>
          </a:p>
          <a:p>
            <a:pPr marL="0" indent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</a:t>
            </a:r>
            <a:endParaRPr lang="en-US" sz="16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5x5 数据集 level4（最干净层），3 epoch，batch 24；同层内配对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675120" y="1554480"/>
            <a:ext cx="4937760" cy="4206240"/>
          </a:xfrm>
          <a:prstGeom prst="roundRect">
            <a:avLst>
              <a:gd name="adj" fmla="val 1739"/>
            </a:avLst>
          </a:prstGeom>
          <a:solidFill>
            <a:srgbClr val="F4F6F9"/>
          </a:solidFill>
          <a:ln w="12700">
            <a:solidFill>
              <a:srgbClr val="D8DC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6949440" y="1783080"/>
            <a:ext cx="43891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评测协议（降方差）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同场景取 50 帧，逐帧对同一 reference 算 PSNR/MSSIM/r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N2N 基线在同 50 帧上做逐帧配对 ΔPSNR（抵消场景噪声）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判据：ΔPSNR 的 mean &gt; std 才算「稳定赢过 N2N」，否则差异在噪声内</a:t>
            </a:r>
            <a:endParaRPr lang="en-US" sz="1600" dirty="0"/>
          </a:p>
          <a:p>
            <a:pPr marL="0" indent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N2N 基线（level4, 3 epoch）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378A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PSNR 32.509 ± 0.826   MSSIM 0.860   r 0.877</a:t>
            </a:r>
            <a:endParaRPr lang="en-US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6675120" y="5850000"/>
            <a:ext cx="493776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1">
                <a:solidFill>
                  <a:srgbClr val="C0392B"/>
                </a:solidFill>
                <a:latin typeface="Microsoft YaHei"/>
              </a:rPr>
              <a:t>注：N2N 基线 = 单向 Charbonnier + 0.01·RTV；Robust 的 w_feat=0 ≠ 此基线（它仍有 γ=0.1 一致性项、无 RTV、两向重建）。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D4537E"/>
                </a:solidFill>
                <a:latin typeface="Microsoft YaHei"/>
              </a:rPr>
              <a:t>引子 · 先测量我们自己的测量误差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 i="0">
                <a:solidFill>
                  <a:srgbClr val="1E2761"/>
                </a:solidFill>
                <a:latin typeface="Microsoft YaHei"/>
              </a:rPr>
              <a:t>为什么必须是 3 epoch + 50 帧配对 + 3 seed？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>
                <a:solidFill>
                  <a:srgbClr val="1E2761"/>
                </a:solidFill>
                <a:latin typeface="Microsoft YaHei"/>
              </a:rPr>
              <a:t>早期记录：单张图 · 单次训练（结果记录 V3~V5 / OOD）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783080"/>
          <a:ext cx="54864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280160"/>
                <a:gridCol w="1280160"/>
                <a:gridCol w="1280160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</a:rPr>
                        <a:t>实验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</a:rPr>
                        <a:t>N2N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</a:rPr>
                        <a:t>Robust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</a:rPr>
                        <a:t>差值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</a:rPr>
                        <a:t>V3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</a:rPr>
                        <a:t>33.92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</a:rPr>
                        <a:t>33.25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6B6B66"/>
                          </a:solidFill>
                          <a:latin typeface="Microsoft YaHei"/>
                        </a:rPr>
                        <a:t>−0.67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</a:rPr>
                        <a:t>V4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</a:rPr>
                        <a:t>33.92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</a:rPr>
                        <a:t>32.91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6B6B66"/>
                          </a:solidFill>
                          <a:latin typeface="Microsoft YaHei"/>
                        </a:rPr>
                        <a:t>−1.01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</a:rPr>
                        <a:t>V5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</a:rPr>
                        <a:t>33.92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</a:rPr>
                        <a:t>34.08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C0392B"/>
                          </a:solidFill>
                          <a:latin typeface="Microsoft YaHei"/>
                        </a:rPr>
                        <a:t>+0.16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</a:rPr>
                        <a:t>OOD 5x5x1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</a:rPr>
                        <a:t>32.22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</a:rPr>
                        <a:t>31.85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6B6B66"/>
                          </a:solidFill>
                          <a:latin typeface="Microsoft YaHei"/>
                        </a:rPr>
                        <a:t>−0.37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</a:rPr>
                        <a:t>OOD 5x5x5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</a:rPr>
                        <a:t>33.26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</a:rPr>
                        <a:t>33.81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6B6B66"/>
                          </a:solidFill>
                          <a:latin typeface="Microsoft YaHei"/>
                        </a:rPr>
                        <a:t>+0.55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840480"/>
            <a:ext cx="54864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C0392B"/>
                </a:solidFill>
                <a:latin typeface="Microsoft YaHei"/>
              </a:rPr>
              <a:t>「V5 略优于 N2N」这一结论，全部建立在 +0.16 dB 之上。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1732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>
                <a:solidFill>
                  <a:srgbClr val="1E2761"/>
                </a:solidFill>
                <a:latin typeface="Microsoft YaHei"/>
              </a:rPr>
              <a:t>但我们实测了这套测量方法自身的误差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783080"/>
            <a:ext cx="5394960" cy="214884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56832" y="1965960"/>
            <a:ext cx="48920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1E2761"/>
                </a:solidFill>
                <a:latin typeface="Microsoft YaHei"/>
              </a:rPr>
              <a:t>同一模型、同一场景、不同帧：</a:t>
            </a:r>
            <a:r>
              <a:rPr sz="1150" b="0" i="0">
                <a:solidFill>
                  <a:srgbClr val="222222"/>
                </a:solidFill>
                <a:latin typeface="Microsoft YaHei"/>
              </a:rPr>
              <a:t>PSNR 28.63 ~ 33.49，std 0.83 dB，极差 4.85 dB</a:t>
            </a:r>
          </a:p>
          <a:p>
            <a:r>
              <a:rPr sz="1150" b="1" i="0">
                <a:solidFill>
                  <a:srgbClr val="1E2761"/>
                </a:solidFill>
                <a:latin typeface="Microsoft YaHei"/>
              </a:rPr>
              <a:t>同一配置、换一个 seed 重训：</a:t>
            </a:r>
            <a:r>
              <a:rPr sz="1150" b="0" i="0">
                <a:solidFill>
                  <a:srgbClr val="222222"/>
                </a:solidFill>
                <a:latin typeface="Microsoft YaHei"/>
              </a:rPr>
              <a:t>33.27 / 32.45 / 31.91，摆动 1.36 dB</a:t>
            </a:r>
          </a:p>
          <a:p>
            <a:r>
              <a:rPr sz="1150" b="1" i="0">
                <a:solidFill>
                  <a:srgbClr val="1E2761"/>
                </a:solidFill>
                <a:latin typeface="Microsoft YaHei"/>
              </a:rPr>
              <a:t>同一配置、同 seed 重跑一次：</a:t>
            </a:r>
            <a:r>
              <a:rPr sz="1150" b="0" i="0">
                <a:solidFill>
                  <a:srgbClr val="222222"/>
                </a:solidFill>
                <a:latin typeface="Microsoft YaHei"/>
              </a:rPr>
              <a:t>33.951 vs 33.560，差 0.39 dB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4114800"/>
            <a:ext cx="5394960" cy="123444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56832" y="4315968"/>
            <a:ext cx="48920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Microsoft YaHei"/>
              </a:rPr>
              <a:t>+0.16 dB 的「优势」比噪声小一个数量级 —— 那个实验设计没有分辨能力，既不能证明方法更好，也不能证明更差。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6634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>
                <a:solidFill>
                  <a:srgbClr val="1E2761"/>
                </a:solidFill>
                <a:latin typeface="Microsoft YaHei"/>
              </a:rPr>
              <a:t>两种噪声，分别对付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983480"/>
            <a:ext cx="54864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1D9E75"/>
                </a:solidFill>
                <a:latin typeface="Microsoft YaHei"/>
              </a:rPr>
              <a:t>评测噪声（抽到哪张图）→ </a:t>
            </a:r>
            <a:r>
              <a:rPr sz="1100" b="0" i="0">
                <a:solidFill>
                  <a:srgbClr val="222222"/>
                </a:solidFill>
                <a:latin typeface="Microsoft YaHei"/>
              </a:rPr>
              <a:t>50 帧平均 + 逐帧配对，标准误压到 ≈0.1 dB</a:t>
            </a:r>
          </a:p>
          <a:p>
            <a:r>
              <a:rPr sz="1100" b="1" i="0">
                <a:solidFill>
                  <a:srgbClr val="1D9E75"/>
                </a:solidFill>
                <a:latin typeface="Microsoft YaHei"/>
              </a:rPr>
              <a:t>训练噪声（seed / 非确定性）→ </a:t>
            </a:r>
            <a:r>
              <a:rPr sz="1100" b="0" i="0">
                <a:solidFill>
                  <a:srgbClr val="222222"/>
                </a:solidFill>
                <a:latin typeface="Microsoft YaHei"/>
              </a:rPr>
              <a:t>3 个 seed，判据 mean &gt; std</a:t>
            </a:r>
          </a:p>
          <a:p>
            <a:r>
              <a:rPr sz="1100" b="1" i="0">
                <a:solidFill>
                  <a:srgbClr val="1D9E75"/>
                </a:solidFill>
                <a:latin typeface="Microsoft YaHei"/>
              </a:rPr>
              <a:t>欠训练（1 epoch）→ </a:t>
            </a:r>
            <a:r>
              <a:rPr sz="1100" b="0" i="0">
                <a:solidFill>
                  <a:srgbClr val="222222"/>
                </a:solidFill>
                <a:latin typeface="Microsoft YaHei"/>
              </a:rPr>
              <a:t>3 epoch，读数代表模型而非训练暂态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532120"/>
            <a:ext cx="5394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222222"/>
                </a:solidFill>
                <a:latin typeface="Microsoft YaHei"/>
              </a:rPr>
              <a:t>验证：新协议当场抓到一个假结论 —— seed42 上 ΔPSNR=+0.762（50/50 帧全赢），换 seed 后变成 −0.060 / −0.598，跨 seed 仅 +0.03±0.69（打平）。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5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1 · in-distribution（level4, seed42）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特征损失的「尺度分布」与「强度」扫描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· 分布对比（w_feat=0.15；e1/e2/e3/bn 归一化权重·和=1）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5669280" cy="2523744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配置（e1/e2/e3/bn 归一化权重）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PSNR mean±std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ΔPSNR（赢/50）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bn 单尺度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B6B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 / 0 / 0 / 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32.963±0.583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D9E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+0.454（45）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e3 + bn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B6B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 / 0 / 0.5 / 0.5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33.219±0.626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D9E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+0.710（50）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深重浅轻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B6B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0.10 / 0.20 / 0.30 / 0.40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32.540±0.988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B6B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+0.031（23）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均匀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B6B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0.25 / 0.25 / 0.25 / 0.25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32.837±0.798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B6B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+0.328（38）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手调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B6B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0.21 / 0.18 / 0.30 / 0.30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32.747±0.807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B6B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+0.238（31）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309360" y="1417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· 强度扫描（固定 e3=bn=0.5 归一化，仅变 w_feat）</a:t>
            </a:r>
            <a:endParaRPr lang="en-US" sz="12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737360"/>
          <a:ext cx="5486400" cy="2633472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w_feat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PSNR mean±std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ΔPSNR（赢/50）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0（特征关）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31.634±0.778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−0.874（7）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0.05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32.241±0.868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−0.268（11）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32.268±0.730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−0.241（11）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0.15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33.219±0.626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D9E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+0.710（50）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0.2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32.938±1.052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D9E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+0.429（49）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33.271±0.546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D9E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+0.762（50）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33.226±0.803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D9E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+0.717（48）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58064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sz="1150" b="1" i="0">
                <a:solidFill>
                  <a:srgbClr val="1E2761"/>
                </a:solidFill>
                <a:latin typeface="Microsoft YaHei"/>
              </a:rPr>
              <a:t>初步发现（seed42，单 seed，仅供圈定范围）：</a:t>
            </a:r>
            <a:endParaRPr lang="en-US" sz="1200" dirty="0"/>
          </a:p>
          <a:p>
            <a:r>
              <a:rPr sz="1150" b="0" i="0">
                <a:solidFill>
                  <a:srgbClr val="222222"/>
                </a:solidFill>
                <a:latin typeface="Microsoft YaHei"/>
              </a:rPr>
              <a:t>① 分布上 e3+bn 最好，加浅层(e1/e2)全部落进噪声；② 强度需 w_feat≥0.15，太弱(0/0.05/0.1)反而输给基线；</a:t>
            </a:r>
          </a:p>
          <a:p>
            <a:r>
              <a:rPr sz="1150" b="0" i="0">
                <a:solidFill>
                  <a:srgbClr val="222222"/>
                </a:solidFill>
                <a:latin typeface="Microsoft YaHei"/>
              </a:rPr>
              <a:t>③ 同一 base 下 w_feat 0→0.3 提升 +1.6 dB，这是特征损失的净效果；但 w_feat=0 低于 N2N 的 0.87 dB 主要来自 base 差异（γ 项 / 无 RTV / 两向重建），不能全归因于「缺特征损失」。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4450000"/>
            <a:ext cx="5486400" cy="5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1">
                <a:solidFill>
                  <a:srgbClr val="C0392B"/>
                </a:solidFill>
                <a:latin typeface="Microsoft YaHei"/>
              </a:rPr>
              <a:t>注：w_feat=0 ≠ N2N 基线。它仍是「两向对称重建 + γ=0.1 一致性、无 RTV」；基线是「单向重建 + RTV 0.01」。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5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2 · 多 seed 确认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seed42 的「冠军」其实是运气</a:t>
            </a:r>
            <a:endParaRPr lang="en-US" sz="2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5760720" cy="13716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配置（e3+bn）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seed42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seed43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seed44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 seed 均值±std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w_feat = 0.3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D9E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+0.762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-0.060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-0.598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6B6B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+0.03 ± 0.69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w_feat = 0.15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D9E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+0.710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-2.374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-0.369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−0.68 ± 1.57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548640" y="288036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6B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表内为 ΔPSNR（vs N2N），单位 dB；尺度固定 e3=0.5, bn=0.5（归一化，和=1）</a:t>
            </a:r>
            <a:endParaRPr lang="en-US" sz="105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6492240" y="1463040"/>
          <a:ext cx="521208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4892040"/>
            <a:ext cx="5760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</a:t>
            </a:r>
            <a:r>
              <a:rPr lang="en-US" sz="125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w_feat=0.3 跨 3 个 seed = +0.03±0.69 dB —— 统计上就是打平；seed42 的 +0.76 是单 seed 运气。w_feat=0.15 更差且极不稳（seed43 崩 −2.37）。多 seed 成功挡住了假信号。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5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3 · OOD 泛化测试（w_feat=0.3, 3 seeds）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结果与假设完全相反：越 OOD 越差</a:t>
            </a:r>
            <a:endParaRPr lang="en-US" sz="2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5669280" cy="19202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测试层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seed42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seed43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seed44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均值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level1（最OOD）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-0.794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-1.370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-2.725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−1.63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level2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D9E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+0.534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-1.030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-2.981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−1.16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level3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D9E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+0.928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-0.408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-1.674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−0.38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level4（见过）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D9E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+0.762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-0.060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-0.598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6B6B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+0.03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42900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6B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表内为 ΔPSNR = Robust − N2N（dB）；配置固定 w_feat=0.3, e3=0.5, bn=0.5（归一化）。level1 绝对值：N2N 29.68 vs Robust 26.95~28.88，全线不如。</a:t>
            </a:r>
            <a:endParaRPr lang="en-US" sz="105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0" y="1463040"/>
          <a:ext cx="539496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4160520"/>
            <a:ext cx="5669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关键：</a:t>
            </a:r>
            <a:r>
              <a:rPr lang="en-US" sz="125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输入越噪、离训练分布越远，Robust 相对 N2N 越差（三 seed 一致、单调）。特征一致性非但没提升 OOD 鲁棒性，反而损害了它。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1A5ED2DC-A5F2-D631-4DA2-8566209A9665}"/>
              </a:ext>
            </a:extLst>
          </p:cNvPr>
          <p:cNvSpPr/>
          <p:nvPr/>
        </p:nvSpPr>
        <p:spPr>
          <a:xfrm>
            <a:off x="548640" y="31089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 err="1">
                <a:solidFill>
                  <a:srgbClr val="D45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</a:t>
            </a:r>
            <a:r>
              <a:rPr lang="en-US" sz="1200" b="1" kern="0" spc="200" dirty="0">
                <a:solidFill>
                  <a:srgbClr val="D45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4 · projector </a:t>
            </a:r>
            <a:r>
              <a:rPr lang="zh-CN" altLang="en-US" sz="1200" b="1" kern="0" spc="200" dirty="0">
                <a:solidFill>
                  <a:srgbClr val="D45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的重要性</a:t>
            </a:r>
            <a:endParaRPr lang="en-US" sz="12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DF1FC56-E12C-88C4-70AC-27A3C70CD9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20" y="694584"/>
            <a:ext cx="4987414" cy="257676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11282EB-2D77-9228-A9A9-2847B6B856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9288" y="310896"/>
            <a:ext cx="6233700" cy="214902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78A4240-DFEF-3F50-8856-69D6FF1A3F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8553" y="2612855"/>
            <a:ext cx="5204911" cy="396274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064670AD-DD42-0ADE-4637-1E4AB72579EF}"/>
              </a:ext>
            </a:extLst>
          </p:cNvPr>
          <p:cNvSpPr txBox="1"/>
          <p:nvPr/>
        </p:nvSpPr>
        <p:spPr>
          <a:xfrm>
            <a:off x="-44143" y="3607717"/>
            <a:ext cx="909355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zh-CN" altLang="zh-CN" sz="125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[1]CHEN T, KORNBLITH S, NOROUZI M, 等. A Simple Framework for Contrastive Learning of Visual Representations[J].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3B111C4-0CE0-6A3B-8E83-87B5A3B25DDA}"/>
              </a:ext>
            </a:extLst>
          </p:cNvPr>
          <p:cNvSpPr txBox="1"/>
          <p:nvPr/>
        </p:nvSpPr>
        <p:spPr>
          <a:xfrm>
            <a:off x="5833241" y="3058510"/>
            <a:ext cx="568819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Simsiam</a:t>
            </a:r>
            <a:r>
              <a:rPr lang="zh-CN" altLang="en-US" sz="12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官方</a:t>
            </a:r>
            <a:r>
              <a:rPr lang="en-US" altLang="zh-CN" sz="12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github</a:t>
            </a:r>
            <a:r>
              <a:rPr lang="zh-CN" altLang="en-US" sz="12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仓库中创建了一个</a:t>
            </a:r>
            <a:r>
              <a:rPr lang="en-US" altLang="zh-CN" sz="12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2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层</a:t>
            </a:r>
            <a:r>
              <a:rPr lang="en-US" altLang="zh-CN" sz="12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mlp</a:t>
            </a:r>
            <a:r>
              <a:rPr lang="zh-CN" altLang="en-US" sz="12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当做</a:t>
            </a:r>
            <a:r>
              <a:rPr lang="en-US" altLang="zh-CN" sz="12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projector</a:t>
            </a:r>
            <a:r>
              <a:rPr lang="zh-CN" altLang="en-US" sz="12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用作训练，并在下面的推理部分放弃了这部分权重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C6B93AD9-2CE2-6336-6D6B-923A39E7AE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584" y="3964563"/>
            <a:ext cx="2581120" cy="2543772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E8EA2C17-CED8-949D-2F27-6D0045B501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1359" y="3964563"/>
            <a:ext cx="3858945" cy="2434586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468C3877-3DBD-E800-2FF5-FD395ACDA735}"/>
              </a:ext>
            </a:extLst>
          </p:cNvPr>
          <p:cNvSpPr txBox="1"/>
          <p:nvPr/>
        </p:nvSpPr>
        <p:spPr>
          <a:xfrm>
            <a:off x="7664237" y="4695971"/>
            <a:ext cx="327922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SimCLR</a:t>
            </a:r>
            <a:r>
              <a:rPr lang="zh-CN" altLang="en-US" sz="12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中直接标出训练使用</a:t>
            </a:r>
            <a:r>
              <a:rPr lang="en-US" altLang="zh-CN" sz="12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projector</a:t>
            </a:r>
            <a:r>
              <a:rPr lang="zh-CN" altLang="en-US" sz="12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，推理放弃</a:t>
            </a:r>
            <a:r>
              <a:rPr lang="en-US" altLang="zh-CN" sz="12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projector</a:t>
            </a:r>
            <a:r>
              <a:rPr lang="zh-CN" altLang="en-US" sz="12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，并验证了有</a:t>
            </a:r>
            <a:r>
              <a:rPr lang="en-US" altLang="zh-CN" sz="12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projector</a:t>
            </a:r>
            <a:r>
              <a:rPr lang="zh-CN" altLang="en-US" sz="12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的效果优于无</a:t>
            </a:r>
            <a:r>
              <a:rPr lang="en-US" altLang="zh-CN" sz="12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projector</a:t>
            </a:r>
            <a:r>
              <a:rPr lang="zh-CN" altLang="en-US" sz="12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的效果，非线性的优于线性的</a:t>
            </a:r>
          </a:p>
        </p:txBody>
      </p:sp>
    </p:spTree>
    <p:extLst>
      <p:ext uri="{BB962C8B-B14F-4D97-AF65-F5344CB8AC3E}">
        <p14:creationId xmlns:p14="http://schemas.microsoft.com/office/powerpoint/2010/main" val="210080906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D4537E"/>
                </a:solidFill>
                <a:latin typeface="Microsoft YaHei"/>
              </a:rPr>
              <a:t>引子 · 早期调参：我们其实在噪声里挑「最优」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 i="0">
                <a:solidFill>
                  <a:srgbClr val="1E2761"/>
                </a:solidFill>
                <a:latin typeface="Microsoft YaHei"/>
              </a:rPr>
              <a:t>为什么必须是 3 epoch + 50 帧配对 + 3 seed？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>
                <a:solidFill>
                  <a:srgbClr val="1E2761"/>
                </a:solidFill>
                <a:latin typeface="Microsoft YaHei"/>
              </a:rPr>
              <a:t>证据一：同一配置，两次独立训练，结果差 0.391 dB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91640"/>
          <a:ext cx="576072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1828800"/>
              </a:tblGrid>
              <a:tr h="354330"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</a:rPr>
                        <a:t>数据来源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</a:rPr>
                        <a:t>PSNR</a:t>
                      </a:r>
                    </a:p>
                  </a:txBody>
                  <a:tcPr/>
                </a:tc>
              </a:tr>
              <a:tr h="354330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</a:rPr>
                        <a:t>encoder1 扫描表（e1=0.7 行）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</a:rPr>
                        <a:t>33.951</a:t>
                      </a:r>
                    </a:p>
                  </a:txBody>
                  <a:tcPr/>
                </a:tc>
              </a:tr>
              <a:tr h="354330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</a:rPr>
                        <a:t>γ 扫描表（γ=0.1 行）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</a:rPr>
                        <a:t>33.560</a:t>
                      </a:r>
                    </a:p>
                  </a:txBody>
                  <a:tcPr/>
                </a:tc>
              </a:tr>
              <a:tr h="354330"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C0392B"/>
                          </a:solidFill>
                          <a:latin typeface="Microsoft YaHei"/>
                        </a:rPr>
                        <a:t>差值（同一配置！）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C0392B"/>
                          </a:solidFill>
                          <a:latin typeface="Microsoft YaHei"/>
                        </a:rPr>
                        <a:t>0.391 dB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200400"/>
            <a:ext cx="5760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1">
                <a:solidFill>
                  <a:srgbClr val="6B6B66"/>
                </a:solidFill>
                <a:latin typeface="Microsoft YaHei"/>
              </a:rPr>
              <a:t>两行的 γ=0.1, w_feat=0.05, bn=1, e3=1, e2=0.6, e1=0.7 完全一致 —— 唯一差别是「跑了两次」。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49039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>
                <a:solidFill>
                  <a:srgbClr val="1E2761"/>
                </a:solidFill>
                <a:latin typeface="Microsoft YaHei"/>
              </a:rPr>
              <a:t>证据二：扫描曲线是抖动，不是趋势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14800"/>
            <a:ext cx="57607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1E2761"/>
                </a:solidFill>
                <a:latin typeface="Microsoft YaHei"/>
              </a:rPr>
              <a:t>• w_feat 扫描：</a:t>
            </a:r>
            <a:r>
              <a:rPr sz="1100" b="0" i="0">
                <a:solidFill>
                  <a:srgbClr val="222222"/>
                </a:solidFill>
                <a:latin typeface="Microsoft YaHei"/>
              </a:rPr>
              <a:t>0.04→33.637 ｜ 0.05→33.814（当时选它）｜ 0.06→33.651 —— 相邻点上下跳 0.16~0.18</a:t>
            </a:r>
          </a:p>
          <a:p>
            <a:r>
              <a:rPr sz="1100" b="1" i="0">
                <a:solidFill>
                  <a:srgbClr val="1E2761"/>
                </a:solidFill>
                <a:latin typeface="Microsoft YaHei"/>
              </a:rPr>
              <a:t>• encoder2 扫描：</a:t>
            </a:r>
            <a:r>
              <a:rPr sz="1100" b="0" i="0">
                <a:solidFill>
                  <a:srgbClr val="222222"/>
                </a:solidFill>
                <a:latin typeface="Microsoft YaHei"/>
              </a:rPr>
              <a:t>选了 0.6→33.776，但 0.9→33.868 其实更高</a:t>
            </a:r>
          </a:p>
          <a:p>
            <a:r>
              <a:rPr sz="1100" b="1" i="0">
                <a:solidFill>
                  <a:srgbClr val="1E2761"/>
                </a:solidFill>
                <a:latin typeface="Microsoft YaHei"/>
              </a:rPr>
              <a:t>• encoder1 扫描：</a:t>
            </a:r>
            <a:r>
              <a:rPr sz="1100" b="0" i="0">
                <a:solidFill>
                  <a:srgbClr val="222222"/>
                </a:solidFill>
                <a:latin typeface="Microsoft YaHei"/>
              </a:rPr>
              <a:t>0.7→33.951 与 0.8→33.953，相差 0.002，根本分不开</a:t>
            </a:r>
          </a:p>
          <a:p>
            <a:r>
              <a:rPr sz="1100" b="1" i="0">
                <a:solidFill>
                  <a:srgbClr val="C0392B"/>
                </a:solidFill>
                <a:latin typeface="Microsoft YaHei"/>
              </a:rPr>
              <a:t>• 整条扫描线的起伏 0.3~0.5 dB，</a:t>
            </a:r>
            <a:r>
              <a:rPr sz="1100" b="0" i="0">
                <a:solidFill>
                  <a:srgbClr val="222222"/>
                </a:solidFill>
                <a:latin typeface="Microsoft YaHei"/>
              </a:rPr>
              <a:t>与「同配置重跑」的 0.391 dB 同量级 → 挑的是噪声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1691640"/>
            <a:ext cx="5120640" cy="160020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84848" y="1874519"/>
            <a:ext cx="46177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Microsoft YaHei"/>
              </a:rPr>
              <a:t>这五张表都是「1 epoch + 单张图」的读数。当测量噪声（0.39 dB）和权重带来的差异（0.3~0.5 dB）一样大时，逐个权重贪心挑最优，挑出来的是噪声尖峰，不是真实最优。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347472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>
                <a:solidFill>
                  <a:srgbClr val="1E2761"/>
                </a:solidFill>
                <a:latin typeface="Microsoft YaHei"/>
              </a:rPr>
              <a:t>两种噪声，分别对付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3840480"/>
            <a:ext cx="51206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1D9E75"/>
                </a:solidFill>
                <a:latin typeface="Microsoft YaHei"/>
              </a:rPr>
              <a:t>评测噪声（抽到哪张图）→ </a:t>
            </a:r>
            <a:r>
              <a:rPr sz="1100" b="0" i="0">
                <a:solidFill>
                  <a:srgbClr val="222222"/>
                </a:solidFill>
                <a:latin typeface="Microsoft YaHei"/>
              </a:rPr>
              <a:t>50 帧平均 + 逐帧配对，标准误压到 ≈0.1 dB</a:t>
            </a:r>
          </a:p>
          <a:p>
            <a:r>
              <a:rPr sz="1100" b="1" i="0">
                <a:solidFill>
                  <a:srgbClr val="1D9E75"/>
                </a:solidFill>
                <a:latin typeface="Microsoft YaHei"/>
              </a:rPr>
              <a:t>训练噪声（seed / 非确定性）→ </a:t>
            </a:r>
            <a:r>
              <a:rPr sz="1100" b="0" i="0">
                <a:solidFill>
                  <a:srgbClr val="222222"/>
                </a:solidFill>
                <a:latin typeface="Microsoft YaHei"/>
              </a:rPr>
              <a:t>3 个 seed，判据 mean &gt; std</a:t>
            </a:r>
          </a:p>
          <a:p>
            <a:r>
              <a:rPr sz="1100" b="1" i="0">
                <a:solidFill>
                  <a:srgbClr val="1D9E75"/>
                </a:solidFill>
                <a:latin typeface="Microsoft YaHei"/>
              </a:rPr>
              <a:t>欠训练（1 epoch）→ </a:t>
            </a:r>
            <a:r>
              <a:rPr sz="1100" b="0" i="0">
                <a:solidFill>
                  <a:srgbClr val="222222"/>
                </a:solidFill>
                <a:latin typeface="Microsoft YaHei"/>
              </a:rPr>
              <a:t>3 epoch，读数代表模型而非训练暂态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60" y="5029200"/>
            <a:ext cx="5120640" cy="128016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84848" y="5193792"/>
            <a:ext cx="461772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C0392B"/>
                </a:solidFill>
                <a:latin typeface="Microsoft YaHei"/>
              </a:rPr>
              <a:t>新协议当场抓到一个假结论：</a:t>
            </a:r>
            <a:r>
              <a:rPr sz="1100" b="0" i="0">
                <a:solidFill>
                  <a:srgbClr val="222222"/>
                </a:solidFill>
                <a:latin typeface="Microsoft YaHei"/>
              </a:rPr>
              <a:t>seed42 上 ΔPSNR = +0.762（50/50 帧全赢）；换两个 seed 重训变成 −0.060 / −0.598，跨 seed 仅 +0.03±0.69 —— 打平。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D4537E"/>
                </a:solidFill>
                <a:latin typeface="Microsoft YaHei"/>
              </a:rPr>
              <a:t>引子 · 早期调参：我们其实在噪声里挑「最优」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 i="0">
                <a:solidFill>
                  <a:srgbClr val="1E2761"/>
                </a:solidFill>
                <a:latin typeface="Microsoft YaHei"/>
              </a:rPr>
              <a:t>为什么必须是 3 epoch + 50 帧配对 + 3 seed？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>
                <a:solidFill>
                  <a:srgbClr val="1E2761"/>
                </a:solidFill>
                <a:latin typeface="Microsoft YaHei"/>
              </a:rPr>
              <a:t>证据一：同一配置，两次独立训练，结果差 0.391 dB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91640"/>
          <a:ext cx="576072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1828800"/>
              </a:tblGrid>
              <a:tr h="354330"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</a:rPr>
                        <a:t>数据来源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</a:rPr>
                        <a:t>PSNR</a:t>
                      </a:r>
                    </a:p>
                  </a:txBody>
                  <a:tcPr/>
                </a:tc>
              </a:tr>
              <a:tr h="354330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</a:rPr>
                        <a:t>encoder1 扫描表（e1=0.7 行）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</a:rPr>
                        <a:t>33.951</a:t>
                      </a:r>
                    </a:p>
                  </a:txBody>
                  <a:tcPr/>
                </a:tc>
              </a:tr>
              <a:tr h="354330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</a:rPr>
                        <a:t>γ 扫描表（γ=0.1 行）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</a:rPr>
                        <a:t>33.560</a:t>
                      </a:r>
                    </a:p>
                  </a:txBody>
                  <a:tcPr/>
                </a:tc>
              </a:tr>
              <a:tr h="354330"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C0392B"/>
                          </a:solidFill>
                          <a:latin typeface="Microsoft YaHei"/>
                        </a:rPr>
                        <a:t>差值（同一配置！）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C0392B"/>
                          </a:solidFill>
                          <a:latin typeface="Microsoft YaHei"/>
                        </a:rPr>
                        <a:t>0.391 dB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200400"/>
            <a:ext cx="5760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1">
                <a:solidFill>
                  <a:srgbClr val="6B6B66"/>
                </a:solidFill>
                <a:latin typeface="Microsoft YaHei"/>
              </a:rPr>
              <a:t>两行的 γ=0.1, w_feat=0.05, bn=1, e3=1, e2=0.6, e1=0.7 完全一致 —— 唯一差别是「跑了两次」。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49039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>
                <a:solidFill>
                  <a:srgbClr val="1E2761"/>
                </a:solidFill>
                <a:latin typeface="Microsoft YaHei"/>
              </a:rPr>
              <a:t>证据二：扫描曲线是抖动，不是趋势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14800"/>
            <a:ext cx="57607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1E2761"/>
                </a:solidFill>
                <a:latin typeface="Microsoft YaHei"/>
              </a:rPr>
              <a:t>• w_feat 扫描：</a:t>
            </a:r>
            <a:r>
              <a:rPr sz="1100" b="0" i="0">
                <a:solidFill>
                  <a:srgbClr val="222222"/>
                </a:solidFill>
                <a:latin typeface="Microsoft YaHei"/>
              </a:rPr>
              <a:t>0.04→33.637 ｜ 0.05→33.814（当时选它）｜ 0.06→33.651 —— 相邻点上下跳 0.16~0.18</a:t>
            </a:r>
          </a:p>
          <a:p>
            <a:r>
              <a:rPr sz="1100" b="1" i="0">
                <a:solidFill>
                  <a:srgbClr val="1E2761"/>
                </a:solidFill>
                <a:latin typeface="Microsoft YaHei"/>
              </a:rPr>
              <a:t>• encoder2 扫描：</a:t>
            </a:r>
            <a:r>
              <a:rPr sz="1100" b="0" i="0">
                <a:solidFill>
                  <a:srgbClr val="222222"/>
                </a:solidFill>
                <a:latin typeface="Microsoft YaHei"/>
              </a:rPr>
              <a:t>选了 0.6→33.776，但 0.9→33.868 其实更高</a:t>
            </a:r>
          </a:p>
          <a:p>
            <a:r>
              <a:rPr sz="1100" b="1" i="0">
                <a:solidFill>
                  <a:srgbClr val="1E2761"/>
                </a:solidFill>
                <a:latin typeface="Microsoft YaHei"/>
              </a:rPr>
              <a:t>• encoder1 扫描：</a:t>
            </a:r>
            <a:r>
              <a:rPr sz="1100" b="0" i="0">
                <a:solidFill>
                  <a:srgbClr val="222222"/>
                </a:solidFill>
                <a:latin typeface="Microsoft YaHei"/>
              </a:rPr>
              <a:t>0.7→33.951 与 0.8→33.953，相差 0.002，根本分不开</a:t>
            </a:r>
          </a:p>
          <a:p>
            <a:r>
              <a:rPr sz="1100" b="1" i="0">
                <a:solidFill>
                  <a:srgbClr val="C0392B"/>
                </a:solidFill>
                <a:latin typeface="Microsoft YaHei"/>
              </a:rPr>
              <a:t>• 整条扫描线的起伏 0.3~0.5 dB，</a:t>
            </a:r>
            <a:r>
              <a:rPr sz="1100" b="0" i="0">
                <a:solidFill>
                  <a:srgbClr val="222222"/>
                </a:solidFill>
                <a:latin typeface="Microsoft YaHei"/>
              </a:rPr>
              <a:t>与「同配置重跑」的 0.391 dB 同量级 → 挑的是噪声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1691640"/>
            <a:ext cx="5120640" cy="160020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84848" y="1874519"/>
            <a:ext cx="46177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Microsoft YaHei"/>
              </a:rPr>
              <a:t>这五张表都是「1 epoch + 单张图」的读数。当测量噪声（0.39 dB）和权重带来的差异（0.3~0.5 dB）一样大时，逐个权重贪心挑最优，挑出来的是噪声尖峰，不是真实最优。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347472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>
                <a:solidFill>
                  <a:srgbClr val="1E2761"/>
                </a:solidFill>
                <a:latin typeface="Microsoft YaHei"/>
              </a:rPr>
              <a:t>两种噪声，分别对付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3840480"/>
            <a:ext cx="51206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1D9E75"/>
                </a:solidFill>
                <a:latin typeface="Microsoft YaHei"/>
              </a:rPr>
              <a:t>评测噪声（抽到哪张图）→ </a:t>
            </a:r>
            <a:r>
              <a:rPr sz="1100" b="0" i="0">
                <a:solidFill>
                  <a:srgbClr val="222222"/>
                </a:solidFill>
                <a:latin typeface="Microsoft YaHei"/>
              </a:rPr>
              <a:t>50 帧平均 + 逐帧配对，标准误压到 ≈0.1 dB</a:t>
            </a:r>
          </a:p>
          <a:p>
            <a:r>
              <a:rPr sz="1100" b="1" i="0">
                <a:solidFill>
                  <a:srgbClr val="1D9E75"/>
                </a:solidFill>
                <a:latin typeface="Microsoft YaHei"/>
              </a:rPr>
              <a:t>训练噪声（seed / 非确定性）→ </a:t>
            </a:r>
            <a:r>
              <a:rPr sz="1100" b="0" i="0">
                <a:solidFill>
                  <a:srgbClr val="222222"/>
                </a:solidFill>
                <a:latin typeface="Microsoft YaHei"/>
              </a:rPr>
              <a:t>3 个 seed，判据 mean &gt; std</a:t>
            </a:r>
          </a:p>
          <a:p>
            <a:r>
              <a:rPr sz="1100" b="1" i="0">
                <a:solidFill>
                  <a:srgbClr val="1D9E75"/>
                </a:solidFill>
                <a:latin typeface="Microsoft YaHei"/>
              </a:rPr>
              <a:t>欠训练（1 epoch）→ </a:t>
            </a:r>
            <a:r>
              <a:rPr sz="1100" b="0" i="0">
                <a:solidFill>
                  <a:srgbClr val="222222"/>
                </a:solidFill>
                <a:latin typeface="Microsoft YaHei"/>
              </a:rPr>
              <a:t>3 epoch，读数代表模型而非训练暂态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60" y="5029200"/>
            <a:ext cx="5120640" cy="128016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84848" y="5193792"/>
            <a:ext cx="461772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C0392B"/>
                </a:solidFill>
                <a:latin typeface="Microsoft YaHei"/>
              </a:rPr>
              <a:t>新协议当场抓到一个假结论：</a:t>
            </a:r>
            <a:r>
              <a:rPr sz="1100" b="0" i="0">
                <a:solidFill>
                  <a:srgbClr val="222222"/>
                </a:solidFill>
                <a:latin typeface="Microsoft YaHei"/>
              </a:rPr>
              <a:t>seed42 上 ΔPSNR = +0.762（50/50 帧全赢）；换两个 seed 重训变成 −0.060 / −0.598，跨 seed 仅 +0.03±0.69 —— 打平。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1002</Words>
  <Application>Microsoft Office PowerPoint</Application>
  <PresentationFormat>宽屏</PresentationFormat>
  <Paragraphs>163</Paragraphs>
  <Slides>7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Microsoft YaHei</vt:lpstr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Robust-N2N 实验结果汇报</dc:title>
  <dc:subject>PptxGenJS Presentation</dc:subject>
  <dc:creator>宋亚栋</dc:creator>
  <cp:lastModifiedBy>亚栋 宋</cp:lastModifiedBy>
  <cp:revision>3</cp:revision>
  <dcterms:created xsi:type="dcterms:W3CDTF">2026-07-10T03:14:23Z</dcterms:created>
  <dcterms:modified xsi:type="dcterms:W3CDTF">2026-07-10T03:26:10Z</dcterms:modified>
</cp:coreProperties>
</file>