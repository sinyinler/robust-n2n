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64" r:id="rId4"/>
    <p:sldId id="258" r:id="rId5"/>
    <p:sldId id="259" r:id="rId6"/>
    <p:sldId id="260" r:id="rId7"/>
    <p:sldId id="263" r:id="rId8"/>
    <p:sldId id="261" r:id="rId9"/>
    <p:sldId id="265" r:id="rId10"/>
    <p:sldId id="279" r:id="rId29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48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跨 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seed </a:t>
            </a:r>
            <a:r>
              <a:rPr lang="el-GR" sz="1300" b="0" i="0" u="none" strike="noStrike">
                <a:solidFill>
                  <a:srgbClr val="1E2761"/>
                </a:solidFill>
                <a:latin typeface="Microsoft YaHei"/>
              </a:rPr>
              <a:t>Δ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PSNR（dB）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seed42</c:v>
                </c:pt>
              </c:strCache>
            </c:strRef>
          </c:tx>
          <c:spPr>
            <a:solidFill>
              <a:srgbClr val="85B7E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0.76200000000000001</c:v>
                </c:pt>
                <c:pt idx="1">
                  <c:v>0.71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81A-4EEE-AA86-06E2899E336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seed43</c:v>
                </c:pt>
              </c:strCache>
            </c:strRef>
          </c:tx>
          <c:spPr>
            <a:solidFill>
              <a:srgbClr val="F0997B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-0.06</c:v>
                </c:pt>
                <c:pt idx="1">
                  <c:v>-2.3740000000000001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81A-4EEE-AA86-06E2899E3368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seed44</c:v>
                </c:pt>
              </c:strCache>
            </c:strRef>
          </c:tx>
          <c:spPr>
            <a:solidFill>
              <a:srgbClr val="D4537E"/>
            </a:solidFill>
            <a:effectLst/>
          </c:spPr>
          <c:invertIfNegative val="0"/>
          <c:cat>
            <c:strRef>
              <c:f>Sheet1!$A$2:$A$3</c:f>
              <c:strCache>
                <c:ptCount val="2"/>
                <c:pt idx="0">
                  <c:v>w_feat=0.3</c:v>
                </c:pt>
                <c:pt idx="1">
                  <c:v>w_feat=0.15</c:v>
                </c:pt>
              </c:strCache>
            </c:strRef>
          </c:cat>
          <c:val>
            <c:numRef>
              <c:f>Sheet1!$D$2:$D$3</c:f>
              <c:numCache>
                <c:formatCode>General</c:formatCode>
                <c:ptCount val="2"/>
                <c:pt idx="0">
                  <c:v>-0.59799999999999998</c:v>
                </c:pt>
                <c:pt idx="1">
                  <c:v>-0.36899999999999999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B81A-4EEE-AA86-06E2899E336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-3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en-US" altLang="zh-CN" sz="1300" b="0" i="0" u="none" strike="noStrike">
                <a:solidFill>
                  <a:srgbClr val="1E2761"/>
                </a:solidFill>
                <a:latin typeface="Microsoft YaHei"/>
              </a:rPr>
              <a:t>ΔPSNR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随 </a:t>
            </a:r>
            <a:r>
              <a:rPr lang="en-US" altLang="zh-CN" sz="1300" b="0" i="0" u="none" strike="noStrike">
                <a:solidFill>
                  <a:srgbClr val="1E2761"/>
                </a:solidFill>
                <a:latin typeface="Microsoft YaHei"/>
              </a:rPr>
              <a:t>OOD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加深单调下降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seed42</c:v>
                </c:pt>
              </c:strCache>
            </c:strRef>
          </c:tx>
          <c:spPr>
            <a:ln w="25400" cap="flat">
              <a:solidFill>
                <a:srgbClr val="85B7E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85B7EB"/>
              </a:solidFill>
              <a:ln w="9525" cap="flat">
                <a:solidFill>
                  <a:srgbClr val="85B7E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0.76200000000000001</c:v>
                </c:pt>
                <c:pt idx="1">
                  <c:v>0.92800000000000005</c:v>
                </c:pt>
                <c:pt idx="2">
                  <c:v>0.53400000000000003</c:v>
                </c:pt>
                <c:pt idx="3">
                  <c:v>-0.79400000000000004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D6C-4D20-B582-FD86E9948A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seed43</c:v>
                </c:pt>
              </c:strCache>
            </c:strRef>
          </c:tx>
          <c:spPr>
            <a:ln w="25400" cap="flat">
              <a:solidFill>
                <a:srgbClr val="F0997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F0997B"/>
              </a:solidFill>
              <a:ln w="9525" cap="flat">
                <a:solidFill>
                  <a:srgbClr val="F0997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-0.06</c:v>
                </c:pt>
                <c:pt idx="1">
                  <c:v>-0.40799999999999997</c:v>
                </c:pt>
                <c:pt idx="2">
                  <c:v>-1.03</c:v>
                </c:pt>
                <c:pt idx="3">
                  <c:v>-1.37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D6C-4D20-B582-FD86E9948A2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seed44</c:v>
                </c:pt>
              </c:strCache>
            </c:strRef>
          </c:tx>
          <c:spPr>
            <a:ln w="25400" cap="flat">
              <a:solidFill>
                <a:srgbClr val="D4537E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D4537E"/>
              </a:solidFill>
              <a:ln w="9525" cap="flat">
                <a:solidFill>
                  <a:srgbClr val="D4537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-0.59799999999999998</c:v>
                </c:pt>
                <c:pt idx="1">
                  <c:v>-1.6739999999999999</c:v>
                </c:pt>
                <c:pt idx="2">
                  <c:v>-2.9809999999999999</c:v>
                </c:pt>
                <c:pt idx="3">
                  <c:v>-2.7250000000000001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D6C-4D20-B582-FD86E9948A22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均值</c:v>
                </c:pt>
              </c:strCache>
            </c:strRef>
          </c:tx>
          <c:spPr>
            <a:ln w="254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Sheet1!$E$2:$E$5</c:f>
              <c:numCache>
                <c:formatCode>General</c:formatCode>
                <c:ptCount val="4"/>
                <c:pt idx="0">
                  <c:v>0.03</c:v>
                </c:pt>
                <c:pt idx="1">
                  <c:v>-0.38</c:v>
                </c:pt>
                <c:pt idx="2">
                  <c:v>-1.1599999999999999</c:v>
                </c:pt>
                <c:pt idx="3">
                  <c:v>-1.63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D6C-4D20-B582-FD86E9948A22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打平线(0)</c:v>
                </c:pt>
              </c:strCache>
            </c:strRef>
          </c:tx>
          <c:spPr>
            <a:ln w="25400" cap="flat">
              <a:solidFill>
                <a:srgbClr val="AAB0BB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AAB0BB"/>
              </a:solidFill>
              <a:ln w="9525" cap="flat">
                <a:solidFill>
                  <a:srgbClr val="AAB0B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Sheet1!$F$2:$F$5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0D6C-4D20-B582-FD86E9948A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E2761"/>
                </a:solidFill>
                <a:latin typeface="Microsoft YaHei"/>
              </a:defRPr>
            </a:pP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projector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大幅压平 </a:t>
            </a:r>
            <a:r>
              <a:rPr lang="en-US" sz="1300" b="0" i="0" u="none" strike="noStrike">
                <a:solidFill>
                  <a:srgbClr val="1E2761"/>
                </a:solidFill>
                <a:latin typeface="Microsoft YaHei"/>
              </a:rPr>
              <a:t>OOD </a:t>
            </a:r>
            <a:r>
              <a:rPr lang="zh-CN" altLang="en-US" sz="1300" b="0" i="0" u="none" strike="noStrike">
                <a:solidFill>
                  <a:srgbClr val="1E2761"/>
                </a:solidFill>
                <a:latin typeface="Microsoft YaHei"/>
              </a:rPr>
              <a:t>衰退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无 projector</c:v>
                </c:pt>
              </c:strCache>
            </c:strRef>
          </c:tx>
          <c:spPr>
            <a:ln w="31750" cap="flat">
              <a:solidFill>
                <a:srgbClr val="D4537E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537E"/>
              </a:solidFill>
              <a:ln w="9525" cap="flat">
                <a:solidFill>
                  <a:srgbClr val="D4537E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0.03</c:v>
                </c:pt>
                <c:pt idx="1">
                  <c:v>-0.38</c:v>
                </c:pt>
                <c:pt idx="2">
                  <c:v>-1.1599999999999999</c:v>
                </c:pt>
                <c:pt idx="3">
                  <c:v>-1.63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A17-4C3A-BB74-8096BA82A3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带 projector</c:v>
                </c:pt>
              </c:strCache>
            </c:strRef>
          </c:tx>
          <c:spPr>
            <a:ln w="31750" cap="flat">
              <a:solidFill>
                <a:srgbClr val="1D9E7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D9E75"/>
              </a:solidFill>
              <a:ln w="9525" cap="flat">
                <a:solidFill>
                  <a:srgbClr val="1D9E75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0.14000000000000001</c:v>
                </c:pt>
                <c:pt idx="1">
                  <c:v>0.05</c:v>
                </c:pt>
                <c:pt idx="2">
                  <c:v>-0.09</c:v>
                </c:pt>
                <c:pt idx="3">
                  <c:v>-0.67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A17-4C3A-BB74-8096BA82A3A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打平线(0)</c:v>
                </c:pt>
              </c:strCache>
            </c:strRef>
          </c:tx>
          <c:spPr>
            <a:ln w="31750" cap="flat">
              <a:solidFill>
                <a:srgbClr val="AAB0B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AAB0BB"/>
              </a:solidFill>
              <a:ln w="9525" cap="flat">
                <a:solidFill>
                  <a:srgbClr val="AAB0BB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level4</c:v>
                </c:pt>
                <c:pt idx="1">
                  <c:v>level3</c:v>
                </c:pt>
                <c:pt idx="2">
                  <c:v>level2</c:v>
                </c:pt>
                <c:pt idx="3">
                  <c:v>level1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A17-4C3A-BB74-8096BA82A3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22222"/>
                </a:solidFill>
                <a:latin typeface="Microsoft YaHe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B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22222"/>
              </a:solidFill>
              <a:latin typeface="Microsoft YaHei"/>
              <a:cs typeface="Microsoft YaHei"/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046162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chart" Target="../charts/char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9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4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5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</a:t>
            </a:r>
            <a:r>
              <a:rPr lang="en-US" altLang="zh-CN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imSiam</a:t>
            </a:r>
            <a:r>
              <a:rPr lang="en-US" sz="4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-N2N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822960" y="28803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CADCF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跨视图特征一致性 · 实验结果汇总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7947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N2N 去噪 + 跨视图特征一致性损失　|　5</a:t>
            </a:r>
            <a:r>
              <a:rPr lang="en-US" altLang="zh-CN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x5x4</a:t>
            </a:r>
            <a:r>
              <a:rPr lang="zh-CN" alt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数据训练</a:t>
            </a: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|　50 帧配对评测</a:t>
            </a:r>
            <a:endParaRPr lang="en-US" sz="15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AAB6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内容：权重扫描 → 多 seed 确认 → OOD 泛化测试 → projector 消融 → 诊断与下一步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6035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6C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2026-07-10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实验设置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方法与评测协议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852160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 / 损失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 U-Net 去噪器 + 对称 N2N（Charbonnier）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跨视图特征一致性（SimSiam 式：projector + predictor + stop-grad）</a:t>
            </a:r>
            <a:endParaRPr lang="en-US" sz="1600" dirty="0"/>
          </a:p>
          <a:p>
            <a:pPr marL="0" indent="0">
              <a:lnSpc>
                <a:spcPct val="112000"/>
              </a:lnSpc>
              <a:spcBef>
                <a:spcPts val="400"/>
              </a:spcBef>
              <a:spcAft>
                <a:spcPts val="1000"/>
              </a:spcAft>
              <a:buNone/>
            </a:pPr>
            <a:r>
              <a:rPr lang="en-US" sz="12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Charb(f(n1),n2) + Charb(f(n2),n1) + 0.1·Charb(f(n1),f(n2)) + w_feat·L_feat</a:t>
            </a:r>
            <a:endParaRPr lang="en-US" sz="160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projector / predictor（训练专用）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g：3 层 1×1 MLP，编码器通道 → 128 维（e3: 64→128，bn: 80→128）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h：128 → 32 → 128（瓶颈 = dim/4，SimSiam 推荐）</a:t>
            </a:r>
            <a:endParaRPr lang="en-US" sz="1600" dirty="0"/>
          </a:p>
          <a:p>
            <a:pPr marL="342900" indent="-342900">
              <a:lnSpc>
                <a:spcPct val="11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二者只属于损失模块，不进 checkpoint；推理只跑 encoder→decoder</a:t>
            </a:r>
            <a:endParaRPr lang="en-US" sz="1600" dirty="0"/>
          </a:p>
          <a:p>
            <a:pPr marL="0" indent="0">
              <a:lnSpc>
                <a:spcPct val="112000"/>
              </a:lnSpc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</a:t>
            </a:r>
            <a:endParaRPr lang="en-US" sz="1600" dirty="0"/>
          </a:p>
          <a:p>
            <a:pPr marL="342900" indent="-342900">
              <a:lnSpc>
                <a:spcPct val="112000"/>
              </a:lnSpc>
              <a:buSzPct val="100000"/>
              <a:buChar char="•"/>
            </a:pP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5x5</a:t>
            </a:r>
            <a:r>
              <a:rPr lang="en-US" altLang="zh-CN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x4</a:t>
            </a:r>
            <a:r>
              <a:rPr lang="zh-CN" alt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 </a:t>
            </a:r>
            <a:r>
              <a:rPr lang="en-US" sz="140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 epoch，batch 24；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675120" y="1554480"/>
            <a:ext cx="4937760" cy="4206240"/>
          </a:xfrm>
          <a:prstGeom prst="roundRect">
            <a:avLst>
              <a:gd name="adj" fmla="val 1739"/>
            </a:avLst>
          </a:prstGeom>
          <a:solidFill>
            <a:srgbClr val="F4F6F9"/>
          </a:solidFill>
          <a:ln w="12700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6949440" y="1783080"/>
            <a:ext cx="438912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spcAft>
                <a:spcPts val="800"/>
              </a:spcAft>
              <a:buNone/>
            </a:pPr>
            <a:r>
              <a:rPr lang="en-US" sz="16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评测协议（降方差）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同场景取 50 帧，逐帧对同一 reference 算 PSNR/MSSIM/r</a:t>
            </a:r>
            <a:endParaRPr lang="en-US" sz="160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 N2N 基线在同 50 帧上做逐帧配对 ΔPSNR（抵消场景噪声）</a:t>
            </a:r>
            <a:endParaRPr lang="en-US" sz="16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判据：ΔPSNR 的 mean &gt; std 才算「稳定赢过 N2N」，否则差异在噪声内</a:t>
            </a:r>
            <a:endParaRPr lang="en-US" sz="1600" dirty="0"/>
          </a:p>
          <a:p>
            <a:pPr marL="0" indent="0">
              <a:lnSpc>
                <a:spcPct val="120000"/>
              </a:lnSpc>
              <a:spcBef>
                <a:spcPts val="400"/>
              </a:spcBef>
              <a:buNone/>
            </a:pPr>
            <a:r>
              <a:rPr lang="en-US" sz="14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N2N 基线（level4, 3 epoch）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378AD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PSNR 32.509 ± 0.826   MSSIM 0.860   r 0.877</a:t>
            </a:r>
            <a:endParaRPr lang="en-US" sz="1600" dirty="0"/>
          </a:p>
        </p:txBody>
      </p:sp>
      <p:sp>
        <p:nvSpPr>
          <p:cNvPr id="7" name="TextBox 6"/>
          <p:cNvSpPr txBox="1"/>
          <p:nvPr/>
        </p:nvSpPr>
        <p:spPr>
          <a:xfrm>
            <a:off x="6675120" y="5850000"/>
            <a:ext cx="4937760" cy="62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C0392B"/>
                </a:solidFill>
                <a:latin typeface="Microsoft YaHei"/>
              </a:rPr>
              <a:t>注：N2N 基线 = 单向 Charbonnier + 0.01·RTV；Robust 的 w_feat=0 ≠ 此基线（它仍有 γ=0.1 一致性项、无 RTV、两向重建）。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引子 · 早期调参：我们其实在噪声里挑「最优」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Microsoft YaHei"/>
              </a:rPr>
              <a:t>为什么必须是 3 epoch + 50 帧配对 + 3 seed？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证据一：同一配置，两次独立训练，结果差 0.391 dB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691640"/>
          <a:ext cx="5760720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1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数据来源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PSNR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encoder1 扫描表（e1=0.7 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33.951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γ 扫描表（γ=0.1 行）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33.560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433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差值（同一配置！）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0.391 dB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200400"/>
            <a:ext cx="57607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0" i="1">
                <a:solidFill>
                  <a:srgbClr val="6B6B66"/>
                </a:solidFill>
                <a:latin typeface="Microsoft YaHei"/>
              </a:rPr>
              <a:t>两行的 γ=0.1, w_feat=0.05, bn=1, e3=1, e2=0.6, e1=0.7 完全一致 —— 唯一差别是「跑了两次」。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49039"/>
            <a:ext cx="57607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证据二：扫描曲线是抖动，不是趋势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14800"/>
            <a:ext cx="576072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w_feat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0.04→33.637 ｜ 0.05→33.814（当时选它）｜ 0.06→33.651 —— 相邻点上下跳 0.16~0.18</a:t>
            </a:r>
          </a:p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encoder2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选了 0.6→33.776，但 0.9→33.868 其实更高</a:t>
            </a:r>
          </a:p>
          <a:p>
            <a:r>
              <a:rPr sz="1100" b="1" i="0">
                <a:solidFill>
                  <a:srgbClr val="1E2761"/>
                </a:solidFill>
                <a:latin typeface="Microsoft YaHei"/>
              </a:rPr>
              <a:t>• encoder1 扫描：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0.7→33.951 与 0.8→33.953，相差 0.002，根本分不开</a:t>
            </a:r>
          </a:p>
          <a:p>
            <a:r>
              <a:rPr sz="1100" b="1" i="0">
                <a:solidFill>
                  <a:srgbClr val="C0392B"/>
                </a:solidFill>
                <a:latin typeface="Microsoft YaHei"/>
              </a:rPr>
              <a:t>• 整条扫描线的起伏 0.3~0.5 dB，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与「同配置重跑」的 0.391 dB 同量级 → 挑的是噪声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37960" y="1691640"/>
            <a:ext cx="5120640" cy="160020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84848" y="1874519"/>
            <a:ext cx="4617720" cy="55399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zh-CN" altLang="en-US" sz="12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一开始测试的</a:t>
            </a:r>
            <a:r>
              <a:rPr sz="1200" b="1" i="0" dirty="0">
                <a:solidFill>
                  <a:srgbClr val="FFFFFF"/>
                </a:solidFill>
                <a:latin typeface="Microsoft YaHei"/>
              </a:rPr>
              <a:t>都是「1 epoch + 单张图」的读数。当测量噪声（0.39 dB）和权重带来的差异（0.3~0.5 </a:t>
            </a:r>
            <a:r>
              <a:rPr sz="1200" b="1" i="0" dirty="0" err="1">
                <a:solidFill>
                  <a:srgbClr val="FFFFFF"/>
                </a:solidFill>
                <a:latin typeface="Microsoft YaHei"/>
              </a:rPr>
              <a:t>dB）一样大时，逐个权重贪心挑最优，挑出来的是噪声尖峰，不是真实最优</a:t>
            </a:r>
            <a:r>
              <a:rPr sz="1200" b="1" i="0" dirty="0">
                <a:solidFill>
                  <a:srgbClr val="FFFFFF"/>
                </a:solidFill>
                <a:latin typeface="Microsoft YaHei"/>
              </a:rPr>
              <a:t>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3474720"/>
            <a:ext cx="5120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两种噪声，分别对付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3840480"/>
            <a:ext cx="51206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评测噪声（抽到哪张图）→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50 帧平均 + 逐帧配对，标准误压到 ≈0.1 dB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训练噪声（seed / 非确定性）→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个 seed，判据 mean &gt; std</a:t>
            </a:r>
          </a:p>
          <a:p>
            <a:r>
              <a:rPr sz="1100" b="1" i="0">
                <a:solidFill>
                  <a:srgbClr val="1D9E75"/>
                </a:solidFill>
                <a:latin typeface="Microsoft YaHei"/>
              </a:rPr>
              <a:t>欠训练（1 epoch）→ 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3 epoch，读数代表模型而非训练暂态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5029200"/>
            <a:ext cx="5120640" cy="12801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784848" y="5193792"/>
            <a:ext cx="4617720" cy="960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 i="0">
                <a:solidFill>
                  <a:srgbClr val="C0392B"/>
                </a:solidFill>
                <a:latin typeface="Microsoft YaHei"/>
              </a:rPr>
              <a:t>新协议当场抓到一个假结论：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seed42 上 ΔPSNR = +0.762（50/50 帧全赢）；换两个 seed 重训变成 −0.060 / −0.598，跨 seed 仅 +0.03±0.69 —— 打平。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1 · in-distribution（level4, seed42）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特征损失的「尺度分布」与「强度」扫描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· 分布对比（w_feat=0.15；e1/e2/e3/bn 归一化权重·和=1）</a:t>
            </a:r>
            <a:endParaRPr lang="en-US" sz="1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5669280" cy="2523744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配置（e1/e2/e3/bn 归一化权重）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PSNR mean±std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ΔPSNR（赢/50）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bn 单尺度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 / 0 / 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32.963±0.583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+0.454（45）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e3 + bn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 / 0 / 0.5 / 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33.219±0.626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深重浅轻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0.10 / 0.20 / 0.30 / 0.40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32.540±0.988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+0.031（23）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均匀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0.25 / 0.25 / 0.25 / 0.25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32.837±0.798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+0.328（38）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手调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8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0.21 / 0.18 / 0.30 / 0.30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32.747±0.807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+0.238（31）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· 强度扫描（固定 e3=bn=0.5 ，仅变 w_feat）</a:t>
            </a:r>
            <a:endParaRPr lang="en-US" sz="12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37360"/>
          <a:ext cx="5486400" cy="263347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PSNR mean±std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ΔPSNR（赢/50）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0（特征关）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31.634±0.778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−0.874（7）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0.05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32.241±0.868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−0.268（11）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32.268±0.730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−0.241（11）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0.15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33.219±0.626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32.938±1.052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+0.429（49）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33.271±0.546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+0.762（50）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0.5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33.226±0.803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+0.717（48）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548640" y="580644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sz="1150" b="1" i="0" dirty="0">
                <a:solidFill>
                  <a:srgbClr val="1E2761"/>
                </a:solidFill>
                <a:latin typeface="Microsoft YaHei"/>
              </a:rPr>
              <a:t>初步发现（seed42，单 </a:t>
            </a:r>
            <a:r>
              <a:rPr sz="1150" b="1" i="0" dirty="0" err="1">
                <a:solidFill>
                  <a:srgbClr val="1E2761"/>
                </a:solidFill>
                <a:latin typeface="Microsoft YaHei"/>
              </a:rPr>
              <a:t>seed，仅供圈定范围</a:t>
            </a:r>
            <a:r>
              <a:rPr sz="1150" b="1" i="0" dirty="0">
                <a:solidFill>
                  <a:srgbClr val="1E2761"/>
                </a:solidFill>
                <a:latin typeface="Microsoft YaHei"/>
              </a:rPr>
              <a:t>）：</a:t>
            </a:r>
            <a:endParaRPr lang="en-US" sz="1200" dirty="0"/>
          </a:p>
          <a:p>
            <a:r>
              <a:rPr sz="1150" b="0" i="0" dirty="0">
                <a:solidFill>
                  <a:srgbClr val="222222"/>
                </a:solidFill>
                <a:latin typeface="Microsoft YaHei"/>
              </a:rPr>
              <a:t>①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分布上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e3+bn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最好，加浅层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(e1/e2)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全部落进</a:t>
            </a:r>
            <a:r>
              <a:rPr lang="zh-CN" altLang="en-US" sz="1150" dirty="0">
                <a:solidFill>
                  <a:srgbClr val="22222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波动区间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；②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强度需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w_feat≥0.15，太弱(0/0.05/0.1)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反而输给基线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；</a:t>
            </a:r>
          </a:p>
          <a:p>
            <a:r>
              <a:rPr sz="1150" b="0" i="0" dirty="0">
                <a:solidFill>
                  <a:srgbClr val="222222"/>
                </a:solidFill>
                <a:latin typeface="Microsoft YaHei"/>
              </a:rPr>
              <a:t>③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同一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base 下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w_feat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0→0.3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提升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+1.6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dB，这是特征损失的净效果；但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w_feat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=0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低于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N2N 的 0.87 dB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主要来自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base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差异（γ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 项 / 无 RTV / 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两向重建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），</a:t>
            </a:r>
            <a:r>
              <a:rPr sz="1150" b="0" i="0" dirty="0" err="1">
                <a:solidFill>
                  <a:srgbClr val="222222"/>
                </a:solidFill>
                <a:latin typeface="Microsoft YaHei"/>
              </a:rPr>
              <a:t>不能全归因于「缺特征损失</a:t>
            </a:r>
            <a:r>
              <a:rPr sz="1150" b="0" i="0" dirty="0">
                <a:solidFill>
                  <a:srgbClr val="222222"/>
                </a:solidFill>
                <a:latin typeface="Microsoft YaHei"/>
              </a:rPr>
              <a:t>」。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4450000"/>
            <a:ext cx="5486400" cy="560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00" b="0" i="1">
                <a:solidFill>
                  <a:srgbClr val="C0392B"/>
                </a:solidFill>
                <a:latin typeface="Microsoft YaHei"/>
              </a:rPr>
              <a:t>注：w_feat=0 ≠ N2N 基线。它仍是「两向对称重建 + γ=0.1 一致性、无 RTV」；基线是「单向重建 + RTV 0.01」。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D314CD7-8A96-DED5-871A-CDDAF4E7F0C1}"/>
              </a:ext>
            </a:extLst>
          </p:cNvPr>
          <p:cNvSpPr txBox="1"/>
          <p:nvPr/>
        </p:nvSpPr>
        <p:spPr>
          <a:xfrm>
            <a:off x="5908916" y="4791890"/>
            <a:ext cx="6287288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 = Charb(f(n1),n2) + Charb(f(n2),n1) + 0.1·Charb(f(n1),f(n2)) 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+ 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w_feat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·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L_feat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  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BB69A743-F7CB-1629-C155-66B9C9C8F908}"/>
              </a:ext>
            </a:extLst>
          </p:cNvPr>
          <p:cNvSpPr txBox="1"/>
          <p:nvPr/>
        </p:nvSpPr>
        <p:spPr>
          <a:xfrm>
            <a:off x="5908916" y="5133780"/>
            <a:ext cx="5886844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 = Charbonnier(f(x_in), x_tgt) + 0.01·RTV(f(x_in))                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2 · 多 seed 确认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seed42 的「冠军」其实是运气</a:t>
            </a:r>
            <a:endParaRPr lang="en-US" sz="27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5760720" cy="13716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配置（e3+bn）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 seed 均值±std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 = 0.3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-0.060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-0.598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 ± 0.69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w_feat = 0.15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+0.710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-2.374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-0.369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−0.68 ± 1.57</a:t>
                      </a:r>
                      <a:endParaRPr lang="en-US" sz="12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548640" y="288036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表内为 ΔPSNR（vs N2N），单位 dB；尺度固定 e3=0.5, bn=0.5（归一化，和=1）</a:t>
            </a:r>
            <a:endParaRPr lang="en-US" sz="10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92240" y="1463040"/>
          <a:ext cx="52120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89204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结论：</a:t>
            </a: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w_feat=0.3 跨 3 个 seed = +0.03±0.69 dB —— 统计上就是打平；seed42 的 +0.76 是单 seed 运气。w_feat=0.15 更差且极不稳（seed43 崩 −2.37）。多 seed 成功挡住了假信号。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 3 · OOD 泛化测试（w_feat=0.3, 3 seeds）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7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结果与假设完全相反：越 OOD 越差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8913654"/>
              </p:ext>
            </p:extLst>
          </p:nvPr>
        </p:nvGraphicFramePr>
        <p:xfrm>
          <a:off x="548640" y="1600200"/>
          <a:ext cx="5669280" cy="192024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60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测试层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seed44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均值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-0.794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-1.370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-2.725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−1.63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+0.534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-1.030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-2.981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−1.16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+0.928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-0.408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-1.674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−0.38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5x5x4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+0.762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-0.060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-0.598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5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</a:t>
                      </a:r>
                      <a:endParaRPr lang="en-US" sz="11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4290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表内为 ΔPSNR = Robust − N2N（dB）；配置固定 w_feat=0.3, e3=0.5, bn=0.5（归一化）。level1 绝对值：N2N 29.68 vs Robust 26.95~28.88，全线不如。</a:t>
            </a:r>
            <a:endParaRPr lang="en-US" sz="105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6400800" y="1463040"/>
          <a:ext cx="539496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 3"/>
          <p:cNvSpPr/>
          <p:nvPr/>
        </p:nvSpPr>
        <p:spPr>
          <a:xfrm>
            <a:off x="548640" y="4160520"/>
            <a:ext cx="56692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b="1" dirty="0" err="1">
                <a:solidFill>
                  <a:srgbClr val="C0392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关键：</a:t>
            </a:r>
            <a:r>
              <a:rPr lang="en-US" sz="125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输入越噪、离训练分布越远，Simsiam</a:t>
            </a: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sz="1250" dirty="0" err="1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相对</a:t>
            </a:r>
            <a:r>
              <a:rPr lang="en-US" sz="1250" dirty="0">
                <a:solidFill>
                  <a:srgbClr val="2222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N2N 越差（三 seed 一致、单调）。特征一致性非但没提升 OOD 鲁棒性，反而损害了它。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1A5ED2DC-A5F2-D631-4DA2-8566209A9665}"/>
              </a:ext>
            </a:extLst>
          </p:cNvPr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 err="1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阶段</a:t>
            </a:r>
            <a:r>
              <a:rPr 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4 · projector </a:t>
            </a:r>
            <a:r>
              <a:rPr lang="zh-CN" altLang="en-US" sz="1200" b="1" kern="0" spc="200" dirty="0">
                <a:solidFill>
                  <a:srgbClr val="D4537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的重要性</a:t>
            </a:r>
            <a:endParaRPr lang="en-US" sz="1200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F1FC56-E12C-88C4-70AC-27A3C70CD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820" y="694584"/>
            <a:ext cx="4987414" cy="257676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711282EB-2D77-9228-A9A9-2847B6B856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9288" y="310896"/>
            <a:ext cx="6233700" cy="214902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E78A4240-DFEF-3F50-8856-69D6FF1A3F5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8553" y="2612855"/>
            <a:ext cx="5204911" cy="396274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064670AD-DD42-0ADE-4637-1E4AB72579EF}"/>
              </a:ext>
            </a:extLst>
          </p:cNvPr>
          <p:cNvSpPr txBox="1"/>
          <p:nvPr/>
        </p:nvSpPr>
        <p:spPr>
          <a:xfrm>
            <a:off x="0" y="6220025"/>
            <a:ext cx="9093550" cy="2846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buNone/>
            </a:pPr>
            <a:r>
              <a:rPr lang="zh-CN" altLang="zh-CN" sz="1250" dirty="0"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[1]CHEN T, KORNBLITH S, NOROUZI M, 等. A Simple Framework for Contrastive Learning of Visual Representations[J].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3B111C4-0CE0-6A3B-8E83-87B5A3B25DDA}"/>
              </a:ext>
            </a:extLst>
          </p:cNvPr>
          <p:cNvSpPr txBox="1"/>
          <p:nvPr/>
        </p:nvSpPr>
        <p:spPr>
          <a:xfrm>
            <a:off x="5833241" y="3058510"/>
            <a:ext cx="568819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Simsiam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官方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github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仓库中创建了一个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层</a:t>
            </a:r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mlp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当做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用作训练，并在下面的推理部分放弃了这部分权重</a:t>
            </a:r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C6B93AD9-2CE2-6336-6D6B-923A39E7AE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1617" y="3557996"/>
            <a:ext cx="2581120" cy="2543772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8EA2C17-CED8-949D-2F27-6D0045B501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39742" y="3599565"/>
            <a:ext cx="3858945" cy="2434586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468C3877-3DBD-E800-2FF5-FD395ACDA735}"/>
              </a:ext>
            </a:extLst>
          </p:cNvPr>
          <p:cNvSpPr txBox="1"/>
          <p:nvPr/>
        </p:nvSpPr>
        <p:spPr>
          <a:xfrm>
            <a:off x="7402059" y="4385971"/>
            <a:ext cx="3279227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5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SimCLR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中直接标出训练使用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，推理放弃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，并验证了有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的效果优于无</a:t>
            </a:r>
            <a:r>
              <a:rPr lang="en-US" altLang="zh-CN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projector</a:t>
            </a:r>
            <a:r>
              <a:rPr lang="zh-CN" altLang="en-US" sz="125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的效果，非线性的优于线性的</a:t>
            </a:r>
          </a:p>
        </p:txBody>
      </p:sp>
    </p:spTree>
    <p:extLst>
      <p:ext uri="{BB962C8B-B14F-4D97-AF65-F5344CB8AC3E}">
        <p14:creationId xmlns:p14="http://schemas.microsoft.com/office/powerpoint/2010/main" val="2100809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b="1" i="0">
                <a:solidFill>
                  <a:srgbClr val="D4537E"/>
                </a:solidFill>
                <a:latin typeface="Microsoft YaHei"/>
              </a:rPr>
              <a:t>阶段 5 · projector 消融与待验证机制（e3+bn, w_feat=0.3, 3 seeds）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2700" b="1" i="0">
                <a:solidFill>
                  <a:srgbClr val="1E2761"/>
                </a:solidFill>
                <a:latin typeface="Microsoft YaHei"/>
              </a:rPr>
              <a:t>projector 显著压平 OOD 衰退（机制待验证）</a:t>
            </a:r>
            <a:endParaRPr lang="en-US" sz="27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3956357"/>
              </p:ext>
            </p:extLst>
          </p:nvPr>
        </p:nvGraphicFramePr>
        <p:xfrm>
          <a:off x="548640" y="1554480"/>
          <a:ext cx="5349240" cy="1828800"/>
        </p:xfrm>
        <a:graphic>
          <a:graphicData uri="http://schemas.openxmlformats.org/drawingml/2006/table">
            <a:tbl>
              <a:tblPr/>
              <a:tblGrid>
                <a:gridCol w="1600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测试层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 projector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带 projector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改善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−1.63 ± 0.99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−0.67 ± 0.46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+0.96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−1.16 ± 1.76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−0.09 ± 0.86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+1.07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−0.38 ± 1.30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+0.05 ± 0.53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D9E75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+0.43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5x5x4（见过）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+0.03 ± 0.69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+0.14 ± 0.32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6B6B66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+0.11</a:t>
                      </a:r>
                      <a:endParaRPr lang="en-US" sz="11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C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3291840"/>
            <a:ext cx="5760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ΔPSNR = Robust − N2N（dB），跨 3 seed </a:t>
            </a:r>
            <a:r>
              <a:rPr lang="en-US" sz="1050" i="1" dirty="0" err="1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均值±std</a:t>
            </a:r>
            <a:r>
              <a:rPr lang="en-US" sz="1050" i="1" dirty="0">
                <a:solidFill>
                  <a:srgbClr val="6B6B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。。</a:t>
            </a:r>
            <a:endParaRPr lang="en-US" sz="1050" dirty="0"/>
          </a:p>
        </p:txBody>
      </p:sp>
      <p:sp>
        <p:nvSpPr>
          <p:cNvPr id="6" name="Shape 3"/>
          <p:cNvSpPr/>
          <p:nvPr/>
        </p:nvSpPr>
        <p:spPr>
          <a:xfrm>
            <a:off x="548640" y="3703320"/>
            <a:ext cx="5760720" cy="1051560"/>
          </a:xfrm>
          <a:prstGeom prst="roundRect">
            <a:avLst>
              <a:gd name="adj" fmla="val 5217"/>
            </a:avLst>
          </a:prstGeom>
          <a:solidFill>
            <a:srgbClr val="F4F6F9"/>
          </a:solidFill>
          <a:ln w="12700">
            <a:solidFill>
              <a:srgbClr val="D8DCE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8" name="Chart 0"/>
          <p:cNvGraphicFramePr/>
          <p:nvPr/>
        </p:nvGraphicFramePr>
        <p:xfrm>
          <a:off x="6492240" y="1463040"/>
          <a:ext cx="5257800" cy="39319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937760"/>
            <a:ext cx="57607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sz="1150" b="1" i="0">
                <a:solidFill>
                  <a:srgbClr val="1E2761"/>
                </a:solidFill>
                <a:latin typeface="Microsoft YaHei"/>
              </a:rPr>
              <a:t>结论：</a:t>
            </a:r>
            <a:r>
              <a:rPr sz="1150" b="0" i="0">
                <a:solidFill>
                  <a:srgbClr val="222222"/>
                </a:solidFill>
                <a:latin typeface="Microsoft YaHei"/>
              </a:rPr>
              <a:t>projector 有大幅、可测量、三 seed 可复现的作用（OOD 挽回约 1 dB、跨 seed 方差减半），并非装饰。</a:t>
            </a:r>
            <a:endParaRPr lang="en-US" sz="1150" dirty="0"/>
          </a:p>
          <a:p>
            <a:r>
              <a:rPr sz="1150" b="1" i="0">
                <a:solidFill>
                  <a:srgbClr val="C0392B"/>
                </a:solidFill>
                <a:latin typeface="Microsoft YaHei"/>
              </a:rPr>
              <a:t>但仍未赢 N2N，且机制未证实：</a:t>
            </a:r>
            <a:r>
              <a:rPr sz="1150" b="0" i="0">
                <a:solidFill>
                  <a:srgbClr val="222222"/>
                </a:solidFill>
                <a:latin typeface="Microsoft YaHei"/>
              </a:rPr>
              <a:t>最 OOD 层为 −0.67±0.46（|mean|&gt;std，是稳定的输）。projector 把「崩盘」变成「小输」，治标未治本。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03320"/>
            <a:ext cx="5760720" cy="1143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150" b="1" i="0">
                <a:solidFill>
                  <a:srgbClr val="C0392B"/>
                </a:solidFill>
                <a:latin typeface="Microsoft YaHei"/>
              </a:rPr>
              <a:t>机制尚未证实：</a:t>
            </a:r>
            <a:r>
              <a:rPr sz="1100" b="0" i="0">
                <a:solidFill>
                  <a:srgbClr val="222222"/>
                </a:solidFill>
                <a:latin typeface="Microsoft YaHei"/>
              </a:rPr>
              <a:t>原先以「ℓ2-归一化特征逐通道 std」作为特征健康度证据。但 projector 末层含 BatchNorm，而无 projector 分支的 z 是无 BN 的 native 特征 —— 两者 std 不可比；该监控又把 batch 与空间维混算，无法排除维度塌缩。故撤下此机制结论，仅保留 PSNR 结果。</a:t>
            </a:r>
          </a:p>
          <a:p>
            <a:r>
              <a:rPr sz="1100" i="1">
                <a:solidFill>
                  <a:srgbClr val="6B6B66"/>
                </a:solidFill>
                <a:latin typeface="Microsoft YaHei"/>
              </a:rPr>
              <a:t>下一步：分支隔离的 zero/shuffle 干预 + native 特征的有效秩 / 协方差谱来检验。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阶段 6 · 最终干净消融（同 seed / 同 batch / 唯一差异 = 特征损失项）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700" b="1" i="0">
                <a:solidFill>
                  <a:srgbClr val="1E2761"/>
                </a:solidFill>
                <a:latin typeface="Microsoft YaHei"/>
              </a:rPr>
              <a:t>把所有混淆去掉后：特征损失没有提升，结构指标一致略差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6583680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0" i="1" dirty="0">
                <a:solidFill>
                  <a:srgbClr val="6B6B66"/>
                </a:solidFill>
                <a:latin typeface="Microsoft YaHei"/>
              </a:rPr>
              <a:t>L = </a:t>
            </a:r>
            <a:r>
              <a:rPr sz="1100" b="0" i="1" dirty="0" err="1">
                <a:solidFill>
                  <a:srgbClr val="6B6B66"/>
                </a:solidFill>
                <a:latin typeface="Microsoft YaHei"/>
              </a:rPr>
              <a:t>Charb</a:t>
            </a:r>
            <a:r>
              <a:rPr sz="1100" b="0" i="1" dirty="0">
                <a:solidFill>
                  <a:srgbClr val="6B6B66"/>
                </a:solidFill>
                <a:latin typeface="Microsoft YaHei"/>
              </a:rPr>
              <a:t>(f(</a:t>
            </a:r>
            <a:r>
              <a:rPr sz="1100" b="0" i="1" dirty="0" err="1">
                <a:solidFill>
                  <a:srgbClr val="6B6B66"/>
                </a:solidFill>
                <a:latin typeface="Microsoft YaHei"/>
              </a:rPr>
              <a:t>x_in</a:t>
            </a:r>
            <a:r>
              <a:rPr sz="1100" b="0" i="1" dirty="0">
                <a:solidFill>
                  <a:srgbClr val="6B6B66"/>
                </a:solidFill>
                <a:latin typeface="Microsoft YaHei"/>
              </a:rPr>
              <a:t>), </a:t>
            </a:r>
            <a:r>
              <a:rPr sz="1100" b="0" i="1" dirty="0" err="1">
                <a:solidFill>
                  <a:srgbClr val="6B6B66"/>
                </a:solidFill>
                <a:latin typeface="Microsoft YaHei"/>
              </a:rPr>
              <a:t>x_tgt</a:t>
            </a:r>
            <a:r>
              <a:rPr sz="1100" b="0" i="1" dirty="0">
                <a:solidFill>
                  <a:srgbClr val="6B6B66"/>
                </a:solidFill>
                <a:latin typeface="Microsoft YaHei"/>
              </a:rPr>
              <a:t>) + 0.01·RTV(f(</a:t>
            </a:r>
            <a:r>
              <a:rPr sz="1100" b="0" i="1" dirty="0" err="1">
                <a:solidFill>
                  <a:srgbClr val="6B6B66"/>
                </a:solidFill>
                <a:latin typeface="Microsoft YaHei"/>
              </a:rPr>
              <a:t>x_in</a:t>
            </a:r>
            <a:r>
              <a:rPr sz="1100" b="0" i="1" dirty="0">
                <a:solidFill>
                  <a:srgbClr val="6B6B66"/>
                </a:solidFill>
                <a:latin typeface="Microsoft YaHei"/>
              </a:rPr>
              <a:t>))  ［+ </a:t>
            </a:r>
            <a:r>
              <a:rPr sz="1100" b="0" i="1" dirty="0" err="1">
                <a:solidFill>
                  <a:srgbClr val="6B6B66"/>
                </a:solidFill>
                <a:latin typeface="Microsoft YaHei"/>
              </a:rPr>
              <a:t>w_feat·L_feat</a:t>
            </a:r>
            <a:r>
              <a:rPr sz="1100" b="0" i="1" dirty="0">
                <a:solidFill>
                  <a:srgbClr val="6B6B66"/>
                </a:solidFill>
                <a:latin typeface="Microsoft YaHei"/>
              </a:rPr>
              <a:t>］    </a:t>
            </a:r>
            <a:r>
              <a:rPr lang="en-US" sz="1100" i="1" dirty="0">
                <a:solidFill>
                  <a:srgbClr val="6B6B66"/>
                </a:solidFill>
                <a:latin typeface="Microsoft YaHei"/>
              </a:rPr>
              <a:t>5x5x4 </a:t>
            </a:r>
            <a:r>
              <a:rPr sz="1100" b="0" i="1" dirty="0">
                <a:solidFill>
                  <a:srgbClr val="6B6B66"/>
                </a:solidFill>
                <a:latin typeface="Microsoft YaHei"/>
              </a:rPr>
              <a:t>· 3 epoch · batch 24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737360"/>
          <a:ext cx="6355080" cy="2020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N2N 基线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N2N + 特征损失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配对 ΔPSNR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赢/50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判定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32.434±1.182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32.543±0.848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6B6B66"/>
                          </a:solidFill>
                          <a:latin typeface="Microsoft YaHei"/>
                        </a:rPr>
                        <a:t>+0.109±0.400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28/50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6B6B66"/>
                          </a:solidFill>
                          <a:latin typeface="Microsoft YaHei"/>
                        </a:rPr>
                        <a:t>噪声内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32.556±1.042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32.207±0.752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−0.349±0.295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稳定更差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32.907±0.816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32.059±1.202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−0.848±0.690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8/50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稳定更差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2761"/>
                          </a:solidFill>
                          <a:latin typeface="Microsoft YaHei"/>
                        </a:rPr>
                        <a:t>跨 seed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2761"/>
                          </a:solidFill>
                          <a:latin typeface="Microsoft YaHei"/>
                        </a:rPr>
                        <a:t>32.632±0.245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1E2761"/>
                          </a:solidFill>
                          <a:latin typeface="Microsoft YaHei"/>
                        </a:rPr>
                        <a:t>32.270±0.248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−0.362±0.479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222222"/>
                          </a:solidFill>
                          <a:latin typeface="Microsoft YaHei"/>
                        </a:rPr>
                        <a:t>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C0392B"/>
                          </a:solidFill>
                          <a:latin typeface="Microsoft YaHei"/>
                        </a:rPr>
                        <a:t>打平·点估计为负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931920"/>
            <a:ext cx="6583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1E2761"/>
                </a:solidFill>
                <a:latin typeface="Microsoft YaHei"/>
              </a:rPr>
              <a:t>结构指标：三个 seed、两个指标，方向完全一致（全为负）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4251960"/>
          <a:ext cx="6583680" cy="94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FFFFFF"/>
                          </a:solidFill>
                          <a:latin typeface="Microsoft YaHei"/>
                        </a:rPr>
                        <a:t>seed44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22222"/>
                          </a:solidFill>
                          <a:latin typeface="Microsoft YaHei"/>
                        </a:rPr>
                        <a:t>ΔMSSIM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−0.0148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−0.0056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algn="ctr"/>
                      <a:r>
                        <a:rPr sz="1050" b="1" i="0">
                          <a:solidFill>
                            <a:srgbClr val="222222"/>
                          </a:solidFill>
                          <a:latin typeface="Microsoft YaHei"/>
                        </a:rPr>
                        <a:t>Δr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 i="0">
                          <a:solidFill>
                            <a:srgbClr val="C0392B"/>
                          </a:solidFill>
                          <a:latin typeface="Microsoft YaHei"/>
                        </a:rPr>
                        <a:t>−0.0071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5257800"/>
            <a:ext cx="6583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C0392B"/>
                </a:solidFill>
                <a:latin typeface="Microsoft YaHei"/>
              </a:rPr>
              <a:t>PSNR 说「打平偏负」，MSSIM / r 说「一致地略差」—— 这不是噪声。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0920" y="1691640"/>
            <a:ext cx="4297680" cy="1691640"/>
          </a:xfrm>
          <a:prstGeom prst="round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589520" y="1874519"/>
            <a:ext cx="384048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FFFFFF"/>
                </a:solidFill>
                <a:latin typeface="Microsoft YaHei"/>
              </a:rPr>
              <a:t>一旦把 γ 一致性项、RTV、两向重建、batch、seed 全部对齐，早期看到的正向增益就消失了。特征损失在 in-distribution 上不成立。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60920" y="361188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50" b="1" i="0">
                <a:solidFill>
                  <a:srgbClr val="1E2761"/>
                </a:solidFill>
                <a:latin typeface="Microsoft YaHei"/>
              </a:rPr>
              <a:t>两个附带发现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60920" y="3931920"/>
            <a:ext cx="4297680" cy="219456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8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589520" y="4114800"/>
            <a:ext cx="384048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 i="0">
                <a:solidFill>
                  <a:srgbClr val="1D9E75"/>
                </a:solidFill>
                <a:latin typeface="Microsoft YaHei"/>
              </a:rPr>
              <a:t>① 训练不稳定不是特征损失的锅。</a:t>
            </a:r>
          </a:p>
          <a:p>
            <a:r>
              <a:rPr sz="1100" b="0" i="0">
                <a:solidFill>
                  <a:srgbClr val="222222"/>
                </a:solidFill>
                <a:latin typeface="Microsoft YaHei"/>
              </a:rPr>
              <a:t>去掉 γ 项与两向重建后，跨 seed std 从 ±0.685 降到 ±0.248 —— 与纯 N2N（±0.245）持平。先前的剧烈摆动来自输出级 γ 项 + 无 projector 的特征压缩。</a:t>
            </a:r>
          </a:p>
          <a:p>
            <a:r>
              <a:rPr sz="1150" b="1" i="0">
                <a:solidFill>
                  <a:srgbClr val="1D9E75"/>
                </a:solidFill>
                <a:latin typeface="Microsoft YaHei"/>
              </a:rPr>
              <a:t>② batch 混淆可忽略。</a:t>
            </a:r>
          </a:p>
          <a:p>
            <a:r>
              <a:rPr sz="1100" b="0" i="0">
                <a:solidFill>
                  <a:srgbClr val="222222"/>
                </a:solidFill>
                <a:latin typeface="Microsoft YaHei"/>
              </a:rPr>
              <a:t>batch24 基线 32.434 vs batch48 32.509，仅差 0.075 dB —— 先前所有结论无需因 batch 修正。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74320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6000" b="1" i="0">
                <a:solidFill>
                  <a:srgbClr val="FFFFFF"/>
                </a:solidFill>
                <a:latin typeface="Microsoft YaHei"/>
              </a:rPr>
              <a:t>谢谢！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977639"/>
            <a:ext cx="10515600" cy="246221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en-US" sz="1600" dirty="0">
                <a:solidFill>
                  <a:srgbClr val="CADCFC"/>
                </a:solidFill>
                <a:latin typeface="Microsoft YaHei"/>
              </a:rPr>
              <a:t>Simsiam</a:t>
            </a:r>
            <a:r>
              <a:rPr sz="1600" b="0" i="0" dirty="0">
                <a:solidFill>
                  <a:srgbClr val="CADCFC"/>
                </a:solidFill>
                <a:latin typeface="Microsoft YaHei"/>
              </a:rPr>
              <a:t>-N2N · </a:t>
            </a:r>
            <a:r>
              <a:rPr sz="1600" b="0" i="0" dirty="0" err="1">
                <a:solidFill>
                  <a:srgbClr val="CADCFC"/>
                </a:solidFill>
                <a:latin typeface="Microsoft YaHei"/>
              </a:rPr>
              <a:t>跨视图特征一致性</a:t>
            </a:r>
            <a:r>
              <a:rPr sz="1600" b="0" i="0" dirty="0">
                <a:solidFill>
                  <a:srgbClr val="CADCFC"/>
                </a:solidFill>
                <a:latin typeface="Microsoft YaHei"/>
              </a:rPr>
              <a:t> · </a:t>
            </a:r>
            <a:r>
              <a:rPr sz="1600" b="0" i="0" dirty="0" err="1">
                <a:solidFill>
                  <a:srgbClr val="CADCFC"/>
                </a:solidFill>
                <a:latin typeface="Microsoft YaHei"/>
              </a:rPr>
              <a:t>实验结果汇报</a:t>
            </a:r>
            <a:endParaRPr sz="1600" b="0" i="0" dirty="0">
              <a:solidFill>
                <a:srgbClr val="CADCFC"/>
              </a:solidFill>
              <a:latin typeface="Microsoft YaHe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 i="0">
                <a:solidFill>
                  <a:srgbClr val="D4537E"/>
                </a:solidFill>
                <a:latin typeface="Microsoft YaHei"/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000" b="1" i="0">
                <a:solidFill>
                  <a:srgbClr val="1E2761"/>
                </a:solidFill>
                <a:latin typeface="Microsoft YaHei"/>
              </a:rPr>
              <a:t>附录 · 全部证据图（按实验顺序）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737360"/>
            <a:ext cx="11064240" cy="4114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A1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引子：噪声底 —— 同一配置两次训练差 0.391 dB；扫描曲线是抖动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A2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阶段1：11 条臂的多帧 PSNR 概览（mean ± std）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A3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阶段1：配对 ΔPSNR（绿=稳定赢，灰=噪声内）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A4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阶段1：11 条臂 + 基线的逐帧 PSNR 曲线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A5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阶段2：多 seed 确认 —— seed42 的「冠军」是运气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A6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阶段3：OOD 泛化测试 —— 越 OOD 越差（三 seed 一致、单调）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A7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阶段5：projector 消融 —— OOD 上挽回约 1 dB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A8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阶段6：最终干净消融 —— 唯一差异=特征损失项</a:t>
            </a:r>
          </a:p>
          <a:p>
            <a:r>
              <a:rPr sz="1400" b="1" i="0">
                <a:solidFill>
                  <a:srgbClr val="D4537E"/>
                </a:solidFill>
                <a:latin typeface="Microsoft YaHei"/>
              </a:rPr>
              <a:t>A9~A11　</a:t>
            </a:r>
            <a:r>
              <a:rPr sz="1400" b="0" i="0">
                <a:solidFill>
                  <a:srgbClr val="222222"/>
                </a:solidFill>
                <a:latin typeface="Microsoft YaHei"/>
              </a:rPr>
              <a:t>阶段6：三个 seed 的逐帧配对曲线（N2N+特征损失 vs N2N）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A1 · 引子：噪声与信号同量级</a:t>
            </a:r>
          </a:p>
        </p:txBody>
      </p:sp>
      <p:pic>
        <p:nvPicPr>
          <p:cNvPr id="3" name="Picture 2" descr="A1_引子_噪声底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1306059"/>
            <a:ext cx="11091672" cy="378868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左：w_feat 扫描相邻点上下跳 0.16~0.18 dB。右：encoder1 扫描表与 γ 扫描表里配置完全相同的两行，读数差 0.391 dB。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A2 · 阶段1：各臂多帧 PSNR 概览</a:t>
            </a:r>
          </a:p>
        </p:txBody>
      </p:sp>
      <p:pic>
        <p:nvPicPr>
          <p:cNvPr id="3" name="Picture 2" descr="overview_p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694" y="960120"/>
            <a:ext cx="7234305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level4、seed42、3 epoch。误差棒为 50 帧的 std；蓝色虚线带为 N2N 基线 ± std。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A3 · 阶段1：配对 ΔPSNR</a:t>
            </a:r>
          </a:p>
        </p:txBody>
      </p:sp>
      <p:pic>
        <p:nvPicPr>
          <p:cNvPr id="3" name="Picture 2" descr="dp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694" y="960120"/>
            <a:ext cx="7234305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绿柱 = mean &gt; std（稳定赢过 N2N）；灰柱 = 差异落在噪声内。w_feat=0 一条最差。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A4 · 阶段1：逐帧 PSNR 曲线</a:t>
            </a:r>
          </a:p>
        </p:txBody>
      </p:sp>
      <p:pic>
        <p:nvPicPr>
          <p:cNvPr id="3" name="Picture 2" descr="curves_psn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62" y="960120"/>
            <a:ext cx="9974969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11 条臂 + N2N 基线（黑）在同 50 帧上的逐帧读数，可见帧间波动远大于臂间差异。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A5 · 阶段2：多 seed 确认</a:t>
            </a:r>
          </a:p>
        </p:txBody>
      </p:sp>
      <p:pic>
        <p:nvPicPr>
          <p:cNvPr id="3" name="Picture 2" descr="A5_阶段2_多s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8533" y="960120"/>
            <a:ext cx="927462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同一配置换 seed：w_feat=0.3 从 +0.762 变 −0.060 / −0.598；w_feat=0.15 在 seed43 崩 −2.374。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A6 · 阶段3：OOD 泛化测试（无 projector）</a:t>
            </a:r>
          </a:p>
        </p:txBody>
      </p:sp>
      <p:pic>
        <p:nvPicPr>
          <p:cNvPr id="3" name="Picture 2" descr="A6_阶段3_OOD趋势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4139" y="960120"/>
            <a:ext cx="8923415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训练于 level4。ΔPSNR 随 OOD 加深单调下降，三 seed 一致；level1 均值 −1.63 dB。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A7 · 阶段5：projector 消融</a:t>
            </a:r>
          </a:p>
        </p:txBody>
      </p:sp>
      <p:pic>
        <p:nvPicPr>
          <p:cNvPr id="3" name="Picture 2" descr="A7_阶段5_projector消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7873" y="960120"/>
            <a:ext cx="8935948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带 projector 后 OOD 衰退被大幅压平（level1 −1.63 → −0.67）。改善随 OOD 加深而增大。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A8 · 阶段6：最终干净消融</a:t>
            </a:r>
          </a:p>
        </p:txBody>
      </p:sp>
      <p:pic>
        <p:nvPicPr>
          <p:cNvPr id="3" name="Picture 2" descr="A8_阶段6_干净消融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8164" y="960120"/>
            <a:ext cx="9315366" cy="4480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同 seed / 同 batch / 同损失，唯一差异 = 特征损失项。跨 seed −0.362 ± 0.479。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A9 · 阶段6：seed42 逐帧配对曲线</a:t>
            </a:r>
          </a:p>
        </p:txBody>
      </p:sp>
      <p:pic>
        <p:nvPicPr>
          <p:cNvPr id="3" name="Picture 2" descr="psn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963882"/>
            <a:ext cx="11091672" cy="4473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N2N + 特征损失 vs 纯 N2N，同 50 帧。配对 ΔPSNR = +0.109 ± 0.400（28/50，噪声内）。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A10 · 阶段6：seed43 逐帧配对曲线</a:t>
            </a:r>
          </a:p>
        </p:txBody>
      </p:sp>
      <p:pic>
        <p:nvPicPr>
          <p:cNvPr id="3" name="Picture 2" descr="psn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963882"/>
            <a:ext cx="11091672" cy="4473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配对 ΔPSNR = −0.349 ± 0.295（3/50，稳定更差）。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10896"/>
            <a:ext cx="109728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000" b="1" i="0">
                <a:solidFill>
                  <a:srgbClr val="1E2761"/>
                </a:solidFill>
                <a:latin typeface="Microsoft YaHei"/>
              </a:rPr>
              <a:t>A11 · 阶段6：seed44 逐帧配对曲线</a:t>
            </a:r>
          </a:p>
        </p:txBody>
      </p:sp>
      <p:pic>
        <p:nvPicPr>
          <p:cNvPr id="3" name="Picture 2" descr="psn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011" y="963882"/>
            <a:ext cx="11091672" cy="447303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623560"/>
            <a:ext cx="11091672" cy="822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0" i="0">
                <a:solidFill>
                  <a:srgbClr val="6B6B66"/>
                </a:solidFill>
                <a:latin typeface="Microsoft YaHei"/>
              </a:rPr>
              <a:t>配对 ΔPSNR = −0.848 ± 0.690（8/50，稳定更差）。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10896"/>
            <a:ext cx="109728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00" b="1">
                <a:solidFill>
                  <a:srgbClr val="D4537E"/>
                </a:solidFill>
                <a:latin typeface="Microsoft YaHei"/>
              </a:rPr>
              <a:t>阶段 7 · 128 projector + 区域级一致性 + 分布扫描（3 seed）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03504"/>
            <a:ext cx="110642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400" b="1">
                <a:solidFill>
                  <a:srgbClr val="1E2761"/>
                </a:solidFill>
                <a:latin typeface="Microsoft YaHei"/>
              </a:rPr>
              <a:t>换了 projector、换了池化、扫了全部分布 —— 结论不变：分布轴不可分辨</a:t>
            </a:r>
          </a:p>
        </p:txBody>
      </p:sp>
      <p:pic>
        <p:nvPicPr>
          <p:cNvPr id="4" name="Picture 3" descr="A9_分布扫描_不可分辨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007" y="1371600"/>
            <a:ext cx="11155680" cy="38971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532120"/>
            <a:ext cx="1106424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1250" b="1">
                <a:solidFill>
                  <a:srgbClr val="C0392B"/>
                </a:solidFill>
                <a:latin typeface="Microsoft YaHei"/>
              </a:rPr>
              <a:t>① 分布不可分辨：</a:t>
            </a:r>
            <a:r>
              <a:rPr sz="1250" b="0">
                <a:solidFill>
                  <a:srgbClr val="222222"/>
                </a:solidFill>
                <a:latin typeface="Microsoft YaHei"/>
              </a:rPr>
              <a:t>6 条臂跨 3 seed 均值全部落在 0 附近，误差棒无一不跨过 0；最优臂「深重浅轻」在 seed2413 排第 1、seed187 排第 6。</a:t>
            </a:r>
          </a:p>
          <a:p>
            <a:r>
              <a:rPr sz="1250" b="1">
                <a:solidFill>
                  <a:srgbClr val="C0392B"/>
                </a:solidFill>
                <a:latin typeface="Microsoft YaHei"/>
              </a:rPr>
              <a:t>② feat 与 PSNR 无关联：</a:t>
            </a:r>
            <a:r>
              <a:rPr sz="1250" b="0">
                <a:solidFill>
                  <a:srgbClr val="222222"/>
                </a:solidFill>
                <a:latin typeface="Microsoft YaHei"/>
              </a:rPr>
              <a:t>损失三 seed 都轻松拉到 −0.95（基线仅 ≈0），但对应 PSNR 一 seed 全正、两 seed 全负 —— 对齐程度和去噪质量之间没有稳定关系。</a:t>
            </a:r>
          </a:p>
          <a:p>
            <a:r>
              <a:rPr sz="1250" b="1">
                <a:solidFill>
                  <a:srgbClr val="1E2761"/>
                </a:solidFill>
                <a:latin typeface="Microsoft YaHei"/>
              </a:rPr>
              <a:t>结论：</a:t>
            </a:r>
            <a:r>
              <a:rPr sz="1250" b="0">
                <a:solidFill>
                  <a:srgbClr val="222222"/>
                </a:solidFill>
                <a:latin typeface="Microsoft YaHei"/>
              </a:rPr>
              <a:t>128 维 projector、区域级一致性、六种分布都试过 —— 同级 noisy-pair 的跨视图一致性，与去噪质量无可测、可复现的关联。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2025</Words>
  <Application>Microsoft Office PowerPoint</Application>
  <PresentationFormat>宽屏</PresentationFormat>
  <Paragraphs>279</Paragraphs>
  <Slides>22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26" baseType="lpstr">
      <vt:lpstr>微软雅黑</vt:lpstr>
      <vt:lpstr>微软雅黑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Robust-N2N 实验结果汇报</dc:title>
  <dc:subject>PptxGenJS Presentation</dc:subject>
  <dc:creator>宋亚栋</dc:creator>
  <cp:lastModifiedBy>亚栋 宋</cp:lastModifiedBy>
  <cp:revision>4</cp:revision>
  <dcterms:created xsi:type="dcterms:W3CDTF">2026-07-10T03:14:23Z</dcterms:created>
  <dcterms:modified xsi:type="dcterms:W3CDTF">2026-07-10T06:25:30Z</dcterms:modified>
</cp:coreProperties>
</file>