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14"/>
    <p:sldId id="258" r:id="rId4"/>
    <p:sldId id="259" r:id="rId5"/>
    <p:sldId id="260" r:id="rId6"/>
    <p:sldId id="263" r:id="rId7"/>
    <p:sldId id="261" r:id="rId8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3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跨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seed </a:t>
            </a:r>
            <a:r>
              <a:rPr lang="el-GR" sz="1300" b="0" i="0" u="none" strike="noStrike">
                <a:solidFill>
                  <a:srgbClr val="1E2761"/>
                </a:solidFill>
                <a:latin typeface="Microsoft YaHei"/>
              </a:rPr>
              <a:t>Δ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PSNR（dB）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0.76200000000000001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A-4EEE-AA86-06E2899E3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-0.06</c:v>
                </c:pt>
                <c:pt idx="1">
                  <c:v>-2.3740000000000001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A-4EEE-AA86-06E2899E3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-0.59799999999999998</c:v>
                </c:pt>
                <c:pt idx="1">
                  <c:v>-0.36899999999999999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1A-4EEE-AA86-06E2899E3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3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ΔPSNR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随 </a:t>
            </a: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加深单调下降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ln w="25400" cap="flat">
              <a:solidFill>
                <a:srgbClr val="85B7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5B7EB"/>
              </a:solidFill>
              <a:ln w="9525" cap="flat">
                <a:solidFill>
                  <a:srgbClr val="85B7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0.76200000000000001</c:v>
                </c:pt>
                <c:pt idx="1">
                  <c:v>0.92800000000000005</c:v>
                </c:pt>
                <c:pt idx="2">
                  <c:v>0.53400000000000003</c:v>
                </c:pt>
                <c:pt idx="3">
                  <c:v>-0.79400000000000004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6C-4D20-B582-FD86E9948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ln w="25400" cap="flat">
              <a:solidFill>
                <a:srgbClr val="F099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997B"/>
              </a:solidFill>
              <a:ln w="9525" cap="flat">
                <a:solidFill>
                  <a:srgbClr val="F0997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-0.06</c:v>
                </c:pt>
                <c:pt idx="1">
                  <c:v>-0.40799999999999997</c:v>
                </c:pt>
                <c:pt idx="2">
                  <c:v>-1.03</c:v>
                </c:pt>
                <c:pt idx="3">
                  <c:v>-1.37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6C-4D20-B582-FD86E9948A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ln w="2540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-0.59799999999999998</c:v>
                </c:pt>
                <c:pt idx="1">
                  <c:v>-1.6739999999999999</c:v>
                </c:pt>
                <c:pt idx="2">
                  <c:v>-2.9809999999999999</c:v>
                </c:pt>
                <c:pt idx="3">
                  <c:v>-2.7250000000000001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6C-4D20-B582-FD86E9948A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均值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6C-4D20-B582-FD86E9948A2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2540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6C-4D20-B582-FD86E9948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projector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大幅压平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衰退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projector</c:v>
                </c:pt>
              </c:strCache>
            </c:strRef>
          </c:tx>
          <c:spPr>
            <a:ln w="3175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17-4C3A-BB74-8096BA82A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带 projector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0.14000000000000001</c:v>
                </c:pt>
                <c:pt idx="1">
                  <c:v>0.05</c:v>
                </c:pt>
                <c:pt idx="2">
                  <c:v>-0.09</c:v>
                </c:pt>
                <c:pt idx="3">
                  <c:v>-0.67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17-4C3A-BB74-8096BA82A3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3175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17-4C3A-BB74-8096BA82A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1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Robust-N2N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 · 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去噪 + 跨视图特征一致性损失　|　5x5 数据 level4 训练　|　50 帧配对评测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内容：权重扫描 → 多 seed 确认 → OOD 泛化测试 → projector 消融 → 诊断与下一步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方法与评测协议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损失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U-Net 去噪器 + 对称 N2N（Charbonnier）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跨视图特征一致性（SimSiam 式：projector + predictor + stop-grad）</a:t>
            </a:r>
            <a:endParaRPr lang="en-US" sz="1600" dirty="0"/>
          </a:p>
          <a:p>
            <a:pPr marL="0" indent="0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Charb(f(n1),n2) + Charb(f(n2),n1) + 0.1·Charb(f(n1),f(n2)) + w_feat·L_feat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/ predictor（训练专用）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g：3 层 1×1 MLP，编码器通道 → 128 维（e3: 64→128，bn: 80→128）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h：128 → 32 → 128（瓶颈 = dim/4，SimSiam 推荐）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二者只属于损失模块，不进 checkpoint；推理只跑 encoder→decoder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5x5 数据集 level4（最干净层），3 epoch，batch 24；同层内配对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评测协议（降方差）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同场景取 50 帧，逐帧对同一 reference 算 PSNR/MSSIM/r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N2N 基线在同 50 帧上做逐帧配对 ΔPSNR（抵消场景噪声）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判据：ΔPSNR 的 mean &gt; std 才算「稳定赢过 N2N」，否则差异在噪声内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基线（level4, 3 epoch）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32.509 ± 0.826   MSSIM 0.860   r 0.877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675120" y="5850000"/>
            <a:ext cx="493776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注：N2N 基线 = 单向 Charbonnier + 0.01·RTV；Robust 的 w_feat=0 ≠ 此基线（它仍有 γ=0.1 一致性项、无 RTV、两向重建）。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早期调参：我们其实在噪声里挑「最优」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证据一：同一配置，两次独立训练，结果差 0.391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760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PSNR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encoder1 扫描表（e1=0.7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33.951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γ 扫描表（γ=0.1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33.560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差值（同一配置！）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0.391 dB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B6B66"/>
                </a:solidFill>
                <a:latin typeface="Microsoft YaHei"/>
              </a:rPr>
              <a:t>两行的 γ=0.1, w_feat=0.05, bn=1, e3=1, e2=0.6, e1=0.7 完全一致 —— 唯一差别是「跑了两次」。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证据二：扫描曲线是抖动，不是趋势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w_feat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0.04→33.637 ｜ 0.05→33.814（当时选它）｜ 0.06→33.651 —— 相邻点上下跳 0.16~0.18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encoder2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选了 0.6→33.776，但 0.9→33.868 其实更高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encoder1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0.7→33.951 与 0.8→33.953，相差 0.002，根本分不开</a:t>
            </a:r>
          </a:p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• 整条扫描线的起伏 0.3~0.5 dB，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与「同配置重跑」的 0.391 dB 同量级 → 挑的是噪声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12064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874519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这五张表都是「1 epoch + 单张图」的读数。当测量噪声（0.39 dB）和权重带来的差异（0.3~0.5 dB）一样大时，逐个权重贪心挑最优，挑出来的是噪声尖峰，不是真实最优。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5029200"/>
            <a:ext cx="512064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5193792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新协议当场抓到一个假结论：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seed42 上 ΔPSNR = +0.762（50/50 帧全赢）；换两个 seed 重训变成 −0.060 / −0.598，跨 seed 仅 +0.03±0.69 —— 打平。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in-distribution（level4, seed42）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特征损失的「尺度分布」与「强度」扫描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分布对比（w_feat=0.15；e1/e2/e3/bn 归一化权重·和=1）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5237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配置（e1/e2/e3/bn 归一化权重）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 单尺度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 /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32.963±0.583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+0.454（45）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 + bn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0.5 / 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深重浅轻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 / 0.20 / 0.30 / 0.40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32.540±0.988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+0.031（23）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/ 0.25 / 0.25 / 0.25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32.837±0.798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+0.328（38）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 / 0.18 / 0.30 / 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32.747±0.807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+0.238（31）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强度扫描（固定 e3=bn=0.5 归一化，仅变 w_feat）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0（特征关）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31.634±0.778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−0.874（7）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32.241±0.868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−0.268（11）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32.268±0.730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−0.241（11）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32.938±1.052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+0.429（49）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33.271±0.546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33.226±0.803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+0.717（48）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 i="0">
                <a:solidFill>
                  <a:srgbClr val="1E2761"/>
                </a:solidFill>
                <a:latin typeface="Microsoft YaHei"/>
              </a:rPr>
              <a:t>初步发现（seed42，单 seed，仅供圈定范围）：</a:t>
            </a:r>
            <a:endParaRPr lang="en-US" sz="1200" dirty="0"/>
          </a:p>
          <a:p>
            <a:r>
              <a:rPr sz="1150" b="0" i="0">
                <a:solidFill>
                  <a:srgbClr val="222222"/>
                </a:solidFill>
                <a:latin typeface="Microsoft YaHei"/>
              </a:rPr>
              <a:t>① 分布上 e3+bn 最好，加浅层(e1/e2)全部落进噪声；② 强度需 w_feat≥0.15，太弱(0/0.05/0.1)反而输给基线；</a:t>
            </a:r>
          </a:p>
          <a:p>
            <a:r>
              <a:rPr sz="1150" b="0" i="0">
                <a:solidFill>
                  <a:srgbClr val="222222"/>
                </a:solidFill>
                <a:latin typeface="Microsoft YaHei"/>
              </a:rPr>
              <a:t>③ 同一 base 下 w_feat 0→0.3 提升 +1.6 dB，这是特征损失的净效果；但 w_feat=0 低于 N2N 的 0.87 dB 主要来自 base 差异（γ 项 / 无 RTV / 两向重建），不能全归因于「缺特征损失」。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50000"/>
            <a:ext cx="5486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注：w_feat=0 ≠ N2N 基线。它仍是「两向对称重建 + γ=0.1 一致性、无 RTV」；基线是「单向重建 + RTV 0.01」。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多 seed 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的「冠军」其实是运气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配置（e3+bn）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seed 均值±std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-2.374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−0.68 ± 1.57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ΔPSNR（vs N2N），单位 dB；尺度固定 e3=0.5, bn=0.5（归一化，和=1）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92240" y="146304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w_feat=0.3 跨 3 个 seed = +0.03±0.69 dB —— 统计上就是打平；seed42 的 +0.76 是单 seed 运气。w_feat=0.15 更差且极不稳（seed43 崩 −2.37）。多 seed 成功挡住了假信号。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OOD 泛化测试（w_feat=0.3,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结果与假设完全相反：越 OOD 越差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692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-0.794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-1.370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+0.534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-1.030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-2.981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+0.928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-1.674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 = Robust − N2N（dB）；配置固定 w_feat=0.3, e3=0.5, bn=0.5（归一化）。level1 绝对值：N2N 29.68 vs Robust 26.95~28.88，全线不如。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输入越噪、离训练分布越远，Robust 相对 N2N 越差（三 seed 一致、单调）。特征一致性非但没提升 OOD 鲁棒性，反而损害了它。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A5ED2DC-A5F2-D631-4DA2-8566209A9665}"/>
              </a:ext>
            </a:extLst>
          </p:cNvPr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 · projector </a:t>
            </a:r>
            <a:r>
              <a:rPr lang="zh-CN" alt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</a:t>
            </a:r>
            <a:endParaRPr 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F1FC56-E12C-88C4-70AC-27A3C70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0" y="694584"/>
            <a:ext cx="4987414" cy="25767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1282EB-2D77-9228-A9A9-2847B6B8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88" y="310896"/>
            <a:ext cx="6233700" cy="21490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8A4240-DFEF-3F50-8856-69D6FF1A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53" y="2612855"/>
            <a:ext cx="5204911" cy="3962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4670AD-DD42-0ADE-4637-1E4AB72579EF}"/>
              </a:ext>
            </a:extLst>
          </p:cNvPr>
          <p:cNvSpPr txBox="1"/>
          <p:nvPr/>
        </p:nvSpPr>
        <p:spPr>
          <a:xfrm>
            <a:off x="-44143" y="3607717"/>
            <a:ext cx="909355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zh-CN" altLang="zh-CN" sz="12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[1]CHEN T, KORNBLITH S, NOROUZI M, 等. A Simple Framework for Contrastive Learning of Visual Representations[J].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111C4-0CE0-6A3B-8E83-87B5A3B25DDA}"/>
              </a:ext>
            </a:extLst>
          </p:cNvPr>
          <p:cNvSpPr txBox="1"/>
          <p:nvPr/>
        </p:nvSpPr>
        <p:spPr>
          <a:xfrm>
            <a:off x="5833241" y="3058510"/>
            <a:ext cx="5688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Simsiam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仓库中创建了一个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当做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用作训练，并在下面的推理部分放弃了这部分权重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B93AD9-2CE2-6336-6D6B-923A39E7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84" y="3964563"/>
            <a:ext cx="2581120" cy="25437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EA2C17-CED8-949D-2F27-6D0045B5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359" y="3964563"/>
            <a:ext cx="3858945" cy="243458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8C3877-3DBD-E800-2FF5-FD395ACDA735}"/>
              </a:ext>
            </a:extLst>
          </p:cNvPr>
          <p:cNvSpPr txBox="1"/>
          <p:nvPr/>
        </p:nvSpPr>
        <p:spPr>
          <a:xfrm>
            <a:off x="7664237" y="4695971"/>
            <a:ext cx="3279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中直接标出训练使用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，推理放弃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，并验证了有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的效果优于无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的效果，非线性的优于线性的</a:t>
            </a:r>
          </a:p>
        </p:txBody>
      </p:sp>
    </p:spTree>
    <p:extLst>
      <p:ext uri="{BB962C8B-B14F-4D97-AF65-F5344CB8AC3E}">
        <p14:creationId xmlns:p14="http://schemas.microsoft.com/office/powerpoint/2010/main" val="21008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 · projector 消融（e3+bn, 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在 OOD 上挽回约 1 dB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49240" cy="1828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 ± 0.99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−0.67 ± 0.46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 ± 1.76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−0.09 ± 0.86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 ± 1.30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 ± 0.53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+0.14 ± 0.32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ΔPSNR = Robust − N2N（dB），跨 3 seed 均值±std。改善随 OOD 加深而增大。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4"/>
          <p:cNvSpPr/>
          <p:nvPr/>
        </p:nvSpPr>
        <p:spPr>
          <a:xfrm>
            <a:off x="777240" y="3840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机制证据 · 特征健康度（std 占健康值 1/√dim 的比例）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projector：e3 31~38%、bn 43~54%（严重压缩）　→　带 projector：e3 83~90%、bn 91~92%（恢复健康）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92240" y="1463040"/>
          <a:ext cx="5257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9377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有大幅、可测量、三 seed 可复现的作用（特征不被压缩、OOD 挽回约 1 dB、方差减半），并非装饰。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但仍未赢 N2N：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level1 为 −0.67±0.46（|mean|&gt;std，是稳定的输）。projector 把「崩盘」变成「小输」，治标未治本。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阶段 6 · 最终干净消融（同 seed / 同 batch / 唯一差异 = 特征损失项）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把所有混淆去掉后：特征损失没有提升，结构指标一致略差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B6B66"/>
                </a:solidFill>
                <a:latin typeface="Microsoft YaHei"/>
              </a:rPr>
              <a:t>L = Charb(f(x_in), x_tgt) + 0.01·RTV(f(x_in))  ［+ w_feat·L_feat］    level4 · 3 epoch · batch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355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325880"/>
                <a:gridCol w="1371600"/>
                <a:gridCol w="1280160"/>
                <a:gridCol w="64008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+ 特征损失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配对 ΔPSNR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赢/50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32.434±1.182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32.543±0.848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+0.109±0.400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28/50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B6B66"/>
                          </a:solidFill>
                          <a:latin typeface="Microsoft YaHei"/>
                        </a:rPr>
                        <a:t>噪声内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32.556±1.042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32.207±0.752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−0.349±0.295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32.907±0.816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32.059±1.202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−0.848±0.690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跨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32.632±0.245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32.270±0.248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−0.362±0.479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打平·点估计为负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Microsoft YaHei"/>
              </a:rPr>
              <a:t>结构指标：三个 seed、两个指标，方向完全一致（全为负）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658368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737360"/>
                <a:gridCol w="173736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seed44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ΔMSSIM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−0.0056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PSNR 说「打平偏负」，MSSIM / r 说「一致地略差」—— 这不是噪声。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91640"/>
            <a:ext cx="4297680" cy="16916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一旦把 γ 一致性项、RTV、两向重建、batch、seed 全部对齐，早期看到的正向增益就消失了。特征损失在 in-distribution 上不成立。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6118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两个附带发现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931920"/>
            <a:ext cx="429768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114800"/>
            <a:ext cx="38404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① 训练不稳定不是特征损失的锅。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去掉 γ 项与两向重建后，跨 seed std 从 ±0.685 降到 ±0.248 —— 与纯 N2N（±0.245）持平。先前的剧烈摆动来自输出级 γ 项 + 无 projector 的特征压缩。</a:t>
            </a:r>
          </a:p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② batch 混淆可忽略。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batch24 基线 32.434 vs batch48 32.509，仅差 0.075 dB —— 先前所有结论无需因 batch 修正。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Microsoft YaHei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CADCFC"/>
                </a:solidFill>
                <a:latin typeface="Microsoft YaHei"/>
              </a:rPr>
              <a:t>Robust-N2N · 跨视图特征一致性 · 实验结果汇报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Microsoft YaHei"/>
              </a:rPr>
              <a:t>附录 · 全部证据图（按实验顺序）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A1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引子：噪声底 —— 同一配置两次训练差 0.391 dB；扫描曲线是抖动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A2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阶段1：11 条臂的多帧 PSNR 概览（mean ± std）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A3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阶段1：配对 ΔPSNR（绿=稳定赢，灰=噪声内）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A4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阶段1：11 条臂 + 基线的逐帧 PSNR 曲线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A5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阶段2：多 seed 确认 —— seed42 的「冠军」是运气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A6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阶段3：OOD 泛化测试 —— 越 OOD 越差（三 seed 一致、单调）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A7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阶段5：projector 消融 —— OOD 上挽回约 1 dB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A8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阶段6：最终干净消融 —— 唯一差异=特征损失项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A9~A11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阶段6：三个 seed 的逐帧配对曲线（N2N+特征损失 vs N2N）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 · 引子：噪声与信号同量级</a:t>
            </a:r>
          </a:p>
        </p:txBody>
      </p:sp>
      <p:pic>
        <p:nvPicPr>
          <p:cNvPr id="3" name="Picture 2" descr="A1_引子_噪声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306059"/>
            <a:ext cx="11091672" cy="37886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左：w_feat 扫描相邻点上下跳 0.16~0.18 dB。右：encoder1 扫描表与 γ 扫描表里配置完全相同的两行，读数差 0.391 dB。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A2 · 阶段1：各臂多帧 PSNR 概览</a:t>
            </a:r>
          </a:p>
        </p:txBody>
      </p:sp>
      <p:pic>
        <p:nvPicPr>
          <p:cNvPr id="3" name="Picture 2" descr="overview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4" y="960120"/>
            <a:ext cx="723430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level4、seed42、3 epoch。误差棒为 50 帧的 std；蓝色虚线带为 N2N 基线 ± std。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A3 · 阶段1：配对 ΔPSNR</a:t>
            </a:r>
          </a:p>
        </p:txBody>
      </p:sp>
      <p:pic>
        <p:nvPicPr>
          <p:cNvPr id="3" name="Picture 2" descr="d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4" y="960120"/>
            <a:ext cx="723430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绿柱 = mean &gt; std（稳定赢过 N2N）；灰柱 = 差异落在噪声内。w_feat=0 一条最差。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A4 · 阶段1：逐帧 PSNR 曲线</a:t>
            </a:r>
          </a:p>
        </p:txBody>
      </p:sp>
      <p:pic>
        <p:nvPicPr>
          <p:cNvPr id="3" name="Picture 2" descr="curves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2" y="960120"/>
            <a:ext cx="997496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11 条臂 + N2N 基线（黑）在同 50 帧上的逐帧读数，可见帧间波动远大于臂间差异。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A5 · 阶段2：多 seed 确认</a:t>
            </a:r>
          </a:p>
        </p:txBody>
      </p:sp>
      <p:pic>
        <p:nvPicPr>
          <p:cNvPr id="3" name="Picture 2" descr="A5_阶段2_多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33" y="960120"/>
            <a:ext cx="927462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同一配置换 seed：w_feat=0.3 从 +0.762 变 −0.060 / −0.598；w_feat=0.15 在 seed43 崩 −2.374。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A6 · 阶段3：OOD 泛化测试（无 projector）</a:t>
            </a:r>
          </a:p>
        </p:txBody>
      </p:sp>
      <p:pic>
        <p:nvPicPr>
          <p:cNvPr id="3" name="Picture 2" descr="A6_阶段3_OOD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39" y="960120"/>
            <a:ext cx="892341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训练于 level4。ΔPSNR 随 OOD 加深单调下降，三 seed 一致；level1 均值 −1.63 dB。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A7 · 阶段5：projector 消融</a:t>
            </a:r>
          </a:p>
        </p:txBody>
      </p:sp>
      <p:pic>
        <p:nvPicPr>
          <p:cNvPr id="3" name="Picture 2" descr="A7_阶段5_projector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873" y="960120"/>
            <a:ext cx="893594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带 projector 后 OOD 衰退被大幅压平（level1 −1.63 → −0.67）。改善随 OOD 加深而增大。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A8 · 阶段6：最终干净消融</a:t>
            </a:r>
          </a:p>
        </p:txBody>
      </p:sp>
      <p:pic>
        <p:nvPicPr>
          <p:cNvPr id="3" name="Picture 2" descr="A8_阶段6_干净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64" y="960120"/>
            <a:ext cx="931536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同 seed / 同 batch / 同损失，唯一差异 = 特征损失项。跨 seed −0.362 ± 0.479。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A9 · 阶段6：seed42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N2N + 特征损失 vs 纯 N2N，同 50 帧。配对 ΔPSNR = +0.109 ± 0.400（28/50，噪声内）。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A10 · 阶段6：seed43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配对 ΔPSNR = −0.349 ± 0.295（3/50，稳定更差）。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A11 · 阶段6：seed44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配对 ΔPSNR = −0.848 ± 0.690（8/50，稳定更差）。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1002</Words>
  <Application>Microsoft Office PowerPoint</Application>
  <PresentationFormat>宽屏</PresentationFormat>
  <Paragraphs>163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Robust-N2N 实验结果汇报</dc:title>
  <dc:subject>PptxGenJS Presentation</dc:subject>
  <dc:creator>宋亚栋</dc:creator>
  <cp:lastModifiedBy>亚栋 宋</cp:lastModifiedBy>
  <cp:revision>3</cp:revision>
  <dcterms:created xsi:type="dcterms:W3CDTF">2026-07-10T03:14:23Z</dcterms:created>
  <dcterms:modified xsi:type="dcterms:W3CDTF">2026-07-10T03:26:10Z</dcterms:modified>
</cp:coreProperties>
</file>